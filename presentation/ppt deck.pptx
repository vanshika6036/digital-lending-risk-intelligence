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3" d="100"/>
          <a:sy n="93" d="100"/>
        </p:scale>
        <p:origin x="53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Relative Importance</c:v>
                </c:pt>
              </c:strCache>
            </c:strRef>
          </c:tx>
          <c:spPr>
            <a:solidFill>
              <a:srgbClr val="22D3EE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Default Probability Score</c:v>
                </c:pt>
                <c:pt idx="1">
                  <c:v>Credit Score</c:v>
                </c:pt>
                <c:pt idx="2">
                  <c:v>Risk Score (Composite)</c:v>
                </c:pt>
                <c:pt idx="3">
                  <c:v>EMI-to-Income Ratio</c:v>
                </c:pt>
                <c:pt idx="4">
                  <c:v>Monthly Income</c:v>
                </c:pt>
                <c:pt idx="5">
                  <c:v>Employment Type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100</c:v>
                </c:pt>
                <c:pt idx="1">
                  <c:v>86</c:v>
                </c:pt>
                <c:pt idx="2">
                  <c:v>78</c:v>
                </c:pt>
                <c:pt idx="3">
                  <c:v>68</c:v>
                </c:pt>
                <c:pt idx="4">
                  <c:v>55</c:v>
                </c:pt>
                <c:pt idx="5">
                  <c:v>44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CE2-4B62-AC9A-5FA01D8853C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BD5E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2A345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0B0F19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194534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14.png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-2286000"/>
            <a:ext cx="5486400" cy="5486400"/>
          </a:xfrm>
          <a:prstGeom prst="ellipse">
            <a:avLst/>
          </a:prstGeom>
          <a:solidFill>
            <a:srgbClr val="22D3EE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3657600"/>
            <a:ext cx="5486400" cy="5486400"/>
          </a:xfrm>
          <a:prstGeom prst="ellipse">
            <a:avLst/>
          </a:prstGeom>
          <a:solidFill>
            <a:srgbClr val="0E7490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144000" y="457200"/>
            <a:ext cx="841248" cy="841248"/>
          </a:xfrm>
          <a:prstGeom prst="rect">
            <a:avLst/>
          </a:prstGeom>
          <a:solidFill>
            <a:srgbClr val="22D3EE">
              <a:alpha val="6000"/>
            </a:srgbClr>
          </a:solidFill>
          <a:ln w="9525">
            <a:solidFill>
              <a:srgbClr val="22D3EE">
                <a:alpha val="2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104120" y="457200"/>
            <a:ext cx="841248" cy="841248"/>
          </a:xfrm>
          <a:prstGeom prst="rect">
            <a:avLst/>
          </a:prstGeom>
          <a:solidFill>
            <a:srgbClr val="22D3EE">
              <a:alpha val="6000"/>
            </a:srgbClr>
          </a:solidFill>
          <a:ln w="9525">
            <a:solidFill>
              <a:srgbClr val="22D3EE">
                <a:alpha val="2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064240" y="457200"/>
            <a:ext cx="841248" cy="841248"/>
          </a:xfrm>
          <a:prstGeom prst="rect">
            <a:avLst/>
          </a:prstGeom>
          <a:solidFill>
            <a:srgbClr val="22D3EE">
              <a:alpha val="6000"/>
            </a:srgbClr>
          </a:solidFill>
          <a:ln w="9525">
            <a:solidFill>
              <a:srgbClr val="22D3EE">
                <a:alpha val="2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0" y="1417320"/>
            <a:ext cx="841248" cy="841248"/>
          </a:xfrm>
          <a:prstGeom prst="rect">
            <a:avLst/>
          </a:prstGeom>
          <a:solidFill>
            <a:srgbClr val="22D3EE">
              <a:alpha val="6000"/>
            </a:srgbClr>
          </a:solidFill>
          <a:ln w="9525">
            <a:solidFill>
              <a:srgbClr val="22D3EE">
                <a:alpha val="2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104120" y="1417320"/>
            <a:ext cx="841248" cy="841248"/>
          </a:xfrm>
          <a:prstGeom prst="rect">
            <a:avLst/>
          </a:prstGeom>
          <a:solidFill>
            <a:srgbClr val="22D3EE">
              <a:alpha val="6000"/>
            </a:srgbClr>
          </a:solidFill>
          <a:ln w="9525">
            <a:solidFill>
              <a:srgbClr val="22D3EE">
                <a:alpha val="2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064240" y="1417320"/>
            <a:ext cx="841248" cy="841248"/>
          </a:xfrm>
          <a:prstGeom prst="rect">
            <a:avLst/>
          </a:prstGeom>
          <a:solidFill>
            <a:srgbClr val="22D3EE">
              <a:alpha val="6000"/>
            </a:srgbClr>
          </a:solidFill>
          <a:ln w="9525">
            <a:solidFill>
              <a:srgbClr val="22D3EE">
                <a:alpha val="2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0" y="2377440"/>
            <a:ext cx="841248" cy="841248"/>
          </a:xfrm>
          <a:prstGeom prst="rect">
            <a:avLst/>
          </a:prstGeom>
          <a:solidFill>
            <a:srgbClr val="22D3EE">
              <a:alpha val="6000"/>
            </a:srgbClr>
          </a:solidFill>
          <a:ln w="9525">
            <a:solidFill>
              <a:srgbClr val="22D3EE">
                <a:alpha val="2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104120" y="2377440"/>
            <a:ext cx="841248" cy="841248"/>
          </a:xfrm>
          <a:prstGeom prst="rect">
            <a:avLst/>
          </a:prstGeom>
          <a:solidFill>
            <a:srgbClr val="22D3EE">
              <a:alpha val="6000"/>
            </a:srgbClr>
          </a:solidFill>
          <a:ln w="9525">
            <a:solidFill>
              <a:srgbClr val="22D3EE">
                <a:alpha val="2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064240" y="2377440"/>
            <a:ext cx="841248" cy="841248"/>
          </a:xfrm>
          <a:prstGeom prst="rect">
            <a:avLst/>
          </a:prstGeom>
          <a:solidFill>
            <a:srgbClr val="22D3EE">
              <a:alpha val="6000"/>
            </a:srgbClr>
          </a:solidFill>
          <a:ln w="9525">
            <a:solidFill>
              <a:srgbClr val="22D3EE">
                <a:alpha val="2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CONSULTING &amp; ANALYTICS CLUB  |  IIT GUWAHATI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1737360"/>
            <a:ext cx="89611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Digital Lending</a:t>
            </a:r>
            <a:endParaRPr lang="en-US" sz="5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Portfolio Optimization</a:t>
            </a:r>
            <a:endParaRPr lang="en-US" sz="5200" dirty="0"/>
          </a:p>
        </p:txBody>
      </p:sp>
      <p:sp>
        <p:nvSpPr>
          <p:cNvPr id="15" name="Text 13"/>
          <p:cNvSpPr/>
          <p:nvPr/>
        </p:nvSpPr>
        <p:spPr>
          <a:xfrm>
            <a:off x="640080" y="3840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Intelligence &amp; Credit Policy Recommendation Framework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40080" y="44348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the Chief Risk Officer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0080" y="5074920"/>
            <a:ext cx="6949440" cy="1234440"/>
          </a:xfrm>
          <a:prstGeom prst="roundRect">
            <a:avLst>
              <a:gd name="adj" fmla="val 6667"/>
            </a:avLst>
          </a:prstGeom>
          <a:solidFill>
            <a:srgbClr val="131A2B"/>
          </a:solidFill>
          <a:ln w="12700">
            <a:solidFill>
              <a:srgbClr val="2A345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868680" y="5212080"/>
            <a:ext cx="6492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Members:  </a:t>
            </a: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Vanshika Lalwani</a:t>
            </a:r>
          </a:p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                 Yatharth Tyagi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68680" y="5669280"/>
            <a:ext cx="6492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Institution:  </a:t>
            </a: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S Ramaiah Institute of Technology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0" y="-1828800"/>
            <a:ext cx="4572000" cy="4572000"/>
          </a:xfrm>
          <a:prstGeom prst="ellipse">
            <a:avLst/>
          </a:prstGeom>
          <a:solidFill>
            <a:srgbClr val="22D3EE">
              <a:alpha val="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Summary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portfolio under stress — with a clear, data-backed path to recovery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2560320" cy="1417320"/>
          </a:xfrm>
          <a:prstGeom prst="roundRect">
            <a:avLst>
              <a:gd name="adj" fmla="val 5806"/>
            </a:avLst>
          </a:prstGeom>
          <a:solidFill>
            <a:srgbClr val="1B2436"/>
          </a:solidFill>
          <a:ln w="12700">
            <a:solidFill>
              <a:srgbClr val="2A34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05740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₹204.5 Cr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548640" y="26974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Portfolio Value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91840" y="1920240"/>
            <a:ext cx="2560320" cy="1417320"/>
          </a:xfrm>
          <a:prstGeom prst="roundRect">
            <a:avLst>
              <a:gd name="adj" fmla="val 5806"/>
            </a:avLst>
          </a:prstGeom>
          <a:solidFill>
            <a:srgbClr val="1B2436"/>
          </a:solidFill>
          <a:ln w="12700">
            <a:solidFill>
              <a:srgbClr val="2A34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0" y="205740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871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20.4%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3291840" y="26974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NPA Rate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35040" y="1920240"/>
            <a:ext cx="2560320" cy="1417320"/>
          </a:xfrm>
          <a:prstGeom prst="roundRect">
            <a:avLst>
              <a:gd name="adj" fmla="val 5806"/>
            </a:avLst>
          </a:prstGeom>
          <a:solidFill>
            <a:srgbClr val="1B2436"/>
          </a:solidFill>
          <a:ln w="12700">
            <a:solidFill>
              <a:srgbClr val="2A34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35040" y="205740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871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24.9%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6035040" y="26974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Rate (Approved)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869680" y="1920240"/>
            <a:ext cx="2697480" cy="1417320"/>
          </a:xfrm>
          <a:prstGeom prst="roundRect">
            <a:avLst>
              <a:gd name="adj" fmla="val 5806"/>
            </a:avLst>
          </a:prstGeom>
          <a:solidFill>
            <a:srgbClr val="0F2A33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869680" y="205740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BB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30.5%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8869680" y="269748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PAR30 — Borrowers at Risk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36576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RECOMMENDATION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4023360"/>
            <a:ext cx="6949440" cy="2331720"/>
          </a:xfrm>
          <a:prstGeom prst="roundRect">
            <a:avLst>
              <a:gd name="adj" fmla="val 3529"/>
            </a:avLst>
          </a:prstGeom>
          <a:solidFill>
            <a:srgbClr val="10242E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" y="4297680"/>
            <a:ext cx="640080" cy="640080"/>
          </a:xfrm>
          <a:prstGeom prst="ellipse">
            <a:avLst/>
          </a:prstGeom>
          <a:solidFill>
            <a:srgbClr val="164E63"/>
          </a:solidFill>
          <a:ln/>
        </p:spPr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6978" y="4441698"/>
            <a:ext cx="352044" cy="352044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1645920" y="4251960"/>
            <a:ext cx="5669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3-Tier Early Warning System</a:t>
            </a:r>
            <a:endParaRPr lang="en-US" sz="1900" dirty="0"/>
          </a:p>
        </p:txBody>
      </p:sp>
      <p:sp>
        <p:nvSpPr>
          <p:cNvPr id="23" name="Text 20"/>
          <p:cNvSpPr/>
          <p:nvPr/>
        </p:nvSpPr>
        <p:spPr>
          <a:xfrm>
            <a:off x="1645920" y="4663440"/>
            <a:ext cx="5669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Forest-powered Green / Amber / Red risk scoring embedded into loan origination, enabling proactive intervention before delinquency.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822960" y="5440680"/>
            <a:ext cx="640080" cy="640080"/>
          </a:xfrm>
          <a:prstGeom prst="ellipse">
            <a:avLst/>
          </a:prstGeom>
          <a:solidFill>
            <a:srgbClr val="164E63"/>
          </a:solidFill>
          <a:ln/>
        </p:spPr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6978" y="5584698"/>
            <a:ext cx="352044" cy="352044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1645920" y="5394960"/>
            <a:ext cx="5669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EMI-to-Income Cap of 0.50</a:t>
            </a:r>
            <a:endParaRPr lang="en-US" sz="1900" dirty="0"/>
          </a:p>
        </p:txBody>
      </p:sp>
      <p:sp>
        <p:nvSpPr>
          <p:cNvPr id="27" name="Text 23"/>
          <p:cNvSpPr/>
          <p:nvPr/>
        </p:nvSpPr>
        <p:spPr>
          <a:xfrm>
            <a:off x="1645920" y="5806440"/>
            <a:ext cx="5669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hard underwriting rule eliminating the single highest-stress borrower cohort, exceptions requiring senior sign-off.</a:t>
            </a:r>
            <a:endParaRPr lang="en-US" sz="1250" dirty="0"/>
          </a:p>
        </p:txBody>
      </p:sp>
      <p:sp>
        <p:nvSpPr>
          <p:cNvPr id="28" name="Text 24"/>
          <p:cNvSpPr/>
          <p:nvPr/>
        </p:nvSpPr>
        <p:spPr>
          <a:xfrm>
            <a:off x="7726680" y="36576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IMPACT</a:t>
            </a:r>
            <a:endParaRPr lang="en-US" sz="1300" dirty="0"/>
          </a:p>
        </p:txBody>
      </p:sp>
      <p:sp>
        <p:nvSpPr>
          <p:cNvPr id="29" name="Shape 25"/>
          <p:cNvSpPr/>
          <p:nvPr/>
        </p:nvSpPr>
        <p:spPr>
          <a:xfrm>
            <a:off x="7726680" y="4023360"/>
            <a:ext cx="3931920" cy="512064"/>
          </a:xfrm>
          <a:prstGeom prst="roundRect">
            <a:avLst>
              <a:gd name="adj" fmla="val 16071"/>
            </a:avLst>
          </a:prstGeom>
          <a:solidFill>
            <a:srgbClr val="1B2436"/>
          </a:solidFill>
          <a:ln w="12700">
            <a:solidFill>
              <a:srgbClr val="2A3450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7909560" y="4023360"/>
            <a:ext cx="1371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4D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↓ 15–20%</a:t>
            </a:r>
            <a:endParaRPr lang="en-US" sz="1800" dirty="0"/>
          </a:p>
        </p:txBody>
      </p:sp>
      <p:sp>
        <p:nvSpPr>
          <p:cNvPr id="31" name="Text 27"/>
          <p:cNvSpPr/>
          <p:nvPr/>
        </p:nvSpPr>
        <p:spPr>
          <a:xfrm>
            <a:off x="9326880" y="4023360"/>
            <a:ext cx="22402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NPA Reduction (2 quarters)</a:t>
            </a:r>
            <a:endParaRPr lang="en-US" sz="1150" dirty="0"/>
          </a:p>
        </p:txBody>
      </p:sp>
      <p:sp>
        <p:nvSpPr>
          <p:cNvPr id="32" name="Shape 28"/>
          <p:cNvSpPr/>
          <p:nvPr/>
        </p:nvSpPr>
        <p:spPr>
          <a:xfrm>
            <a:off x="7726680" y="4626864"/>
            <a:ext cx="3931920" cy="512064"/>
          </a:xfrm>
          <a:prstGeom prst="roundRect">
            <a:avLst>
              <a:gd name="adj" fmla="val 16071"/>
            </a:avLst>
          </a:prstGeom>
          <a:solidFill>
            <a:srgbClr val="1B2436"/>
          </a:solidFill>
          <a:ln w="12700">
            <a:solidFill>
              <a:srgbClr val="2A3450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7909560" y="4626864"/>
            <a:ext cx="1371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4D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↑ 8–10pp</a:t>
            </a:r>
            <a:endParaRPr lang="en-US" sz="1800" dirty="0"/>
          </a:p>
        </p:txBody>
      </p:sp>
      <p:sp>
        <p:nvSpPr>
          <p:cNvPr id="34" name="Text 30"/>
          <p:cNvSpPr/>
          <p:nvPr/>
        </p:nvSpPr>
        <p:spPr>
          <a:xfrm>
            <a:off x="9326880" y="4626864"/>
            <a:ext cx="22402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PAR30 Improvement</a:t>
            </a:r>
            <a:endParaRPr lang="en-US" sz="1150" dirty="0"/>
          </a:p>
        </p:txBody>
      </p:sp>
      <p:sp>
        <p:nvSpPr>
          <p:cNvPr id="35" name="Shape 31"/>
          <p:cNvSpPr/>
          <p:nvPr/>
        </p:nvSpPr>
        <p:spPr>
          <a:xfrm>
            <a:off x="7726680" y="5230368"/>
            <a:ext cx="3931920" cy="512064"/>
          </a:xfrm>
          <a:prstGeom prst="roundRect">
            <a:avLst>
              <a:gd name="adj" fmla="val 16071"/>
            </a:avLst>
          </a:prstGeom>
          <a:solidFill>
            <a:srgbClr val="1B2436"/>
          </a:solidFill>
          <a:ln w="12700">
            <a:solidFill>
              <a:srgbClr val="2A3450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7909560" y="5230368"/>
            <a:ext cx="1371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BB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-3 to -5%</a:t>
            </a:r>
            <a:endParaRPr lang="en-US" sz="1800" dirty="0"/>
          </a:p>
        </p:txBody>
      </p:sp>
      <p:sp>
        <p:nvSpPr>
          <p:cNvPr id="37" name="Text 33"/>
          <p:cNvSpPr/>
          <p:nvPr/>
        </p:nvSpPr>
        <p:spPr>
          <a:xfrm>
            <a:off x="9326880" y="5230368"/>
            <a:ext cx="22402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Rate Trade-off</a:t>
            </a:r>
            <a:endParaRPr lang="en-US" sz="1150" dirty="0"/>
          </a:p>
        </p:txBody>
      </p:sp>
      <p:sp>
        <p:nvSpPr>
          <p:cNvPr id="38" name="Shape 34"/>
          <p:cNvSpPr/>
          <p:nvPr/>
        </p:nvSpPr>
        <p:spPr>
          <a:xfrm>
            <a:off x="7726680" y="5833872"/>
            <a:ext cx="3931920" cy="512064"/>
          </a:xfrm>
          <a:prstGeom prst="roundRect">
            <a:avLst>
              <a:gd name="adj" fmla="val 16071"/>
            </a:avLst>
          </a:prstGeom>
          <a:solidFill>
            <a:srgbClr val="1B2436"/>
          </a:solidFill>
          <a:ln w="12700">
            <a:solidFill>
              <a:srgbClr val="2A3450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7909560" y="5833872"/>
            <a:ext cx="1371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 +ve</a:t>
            </a:r>
            <a:endParaRPr lang="en-US" sz="1800" dirty="0"/>
          </a:p>
        </p:txBody>
      </p:sp>
      <p:sp>
        <p:nvSpPr>
          <p:cNvPr id="40" name="Text 36"/>
          <p:cNvSpPr/>
          <p:nvPr/>
        </p:nvSpPr>
        <p:spPr>
          <a:xfrm>
            <a:off x="9326880" y="5833872"/>
            <a:ext cx="22402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via Risk-Based Pricing</a:t>
            </a:r>
            <a:endParaRPr lang="en-US" sz="1150" dirty="0"/>
          </a:p>
        </p:txBody>
      </p:sp>
      <p:sp>
        <p:nvSpPr>
          <p:cNvPr id="41" name="Text 37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4572000"/>
            <a:ext cx="5486400" cy="5486400"/>
          </a:xfrm>
          <a:prstGeom prst="ellipse">
            <a:avLst/>
          </a:prstGeom>
          <a:solidFill>
            <a:srgbClr val="0E7490">
              <a:alpha val="1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Industry Context &amp; Business Challenge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lenders have scaled fast — but visibility, pricing, and risk discipline have not kept pace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4206240" cy="4892040"/>
          </a:xfrm>
          <a:prstGeom prst="roundRect">
            <a:avLst>
              <a:gd name="adj" fmla="val 1957"/>
            </a:avLst>
          </a:prstGeom>
          <a:solidFill>
            <a:srgbClr val="0F2A33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783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STATEMENT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68680" y="2194560"/>
            <a:ext cx="35661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can a digital lending institution leverage customer, repayment, and behavioral data to reduce defaults, improve underwriting quality, and achieve sustainable, risk-adjusted portfolio growth?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68680" y="3886200"/>
            <a:ext cx="3566160" cy="18288"/>
          </a:xfrm>
          <a:prstGeom prst="rect">
            <a:avLst/>
          </a:prstGeom>
          <a:solidFill>
            <a:srgbClr val="22D3EE">
              <a:alpha val="4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4114800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Lenders today have rich customer and transaction data — but it remains fragmented, reactive, and disconnected from underwriting and pricing decisions.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68680" y="5349240"/>
            <a:ext cx="548640" cy="548640"/>
          </a:xfrm>
          <a:prstGeom prst="ellipse">
            <a:avLst/>
          </a:prstGeom>
          <a:solidFill>
            <a:srgbClr val="164E63"/>
          </a:solidFill>
          <a:ln/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5486400"/>
            <a:ext cx="274320" cy="27432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554480" y="5349240"/>
            <a:ext cx="2880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analysis turns this data into a forward-looking risk and growth playbook.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4983480" y="1508760"/>
            <a:ext cx="3246120" cy="2286000"/>
          </a:xfrm>
          <a:prstGeom prst="roundRect">
            <a:avLst>
              <a:gd name="adj" fmla="val 3600"/>
            </a:avLst>
          </a:prstGeom>
          <a:solidFill>
            <a:srgbClr val="1B2436"/>
          </a:solidFill>
          <a:ln w="12700">
            <a:solidFill>
              <a:srgbClr val="2A345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212080" y="1737360"/>
            <a:ext cx="594360" cy="594360"/>
          </a:xfrm>
          <a:prstGeom prst="ellipse">
            <a:avLst/>
          </a:prstGeom>
          <a:solidFill>
            <a:srgbClr val="3F1D1D"/>
          </a:solidFill>
          <a:ln/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60670" y="1885950"/>
            <a:ext cx="297180" cy="29718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212080" y="2423160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Rising Defaults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5212080" y="2834640"/>
            <a:ext cx="2788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24.9% default rate among approved loans, concentrated in identifiable high-risk segments and products.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8412480" y="1508760"/>
            <a:ext cx="3246120" cy="2286000"/>
          </a:xfrm>
          <a:prstGeom prst="roundRect">
            <a:avLst>
              <a:gd name="adj" fmla="val 3600"/>
            </a:avLst>
          </a:prstGeom>
          <a:solidFill>
            <a:srgbClr val="1B2436"/>
          </a:solidFill>
          <a:ln w="12700">
            <a:solidFill>
              <a:srgbClr val="2A3450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8641080" y="1737360"/>
            <a:ext cx="594360" cy="594360"/>
          </a:xfrm>
          <a:prstGeom prst="ellipse">
            <a:avLst/>
          </a:prstGeom>
          <a:solidFill>
            <a:srgbClr val="164E63"/>
          </a:solidFill>
          <a:ln/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89670" y="1885950"/>
            <a:ext cx="297180" cy="29718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641080" y="2423160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Poor Risk Visibility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8641080" y="2834640"/>
            <a:ext cx="2788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segmentation means leadership cannot see which customers, channels, or products drive losses.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4983480" y="3977640"/>
            <a:ext cx="3246120" cy="2286000"/>
          </a:xfrm>
          <a:prstGeom prst="roundRect">
            <a:avLst>
              <a:gd name="adj" fmla="val 3600"/>
            </a:avLst>
          </a:prstGeom>
          <a:solidFill>
            <a:srgbClr val="1B2436"/>
          </a:solidFill>
          <a:ln w="12700">
            <a:solidFill>
              <a:srgbClr val="2A3450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5212080" y="4206240"/>
            <a:ext cx="594360" cy="594360"/>
          </a:xfrm>
          <a:prstGeom prst="ellipse">
            <a:avLst/>
          </a:prstGeom>
          <a:solidFill>
            <a:srgbClr val="164E63"/>
          </a:solidFill>
          <a:ln/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60670" y="4354830"/>
            <a:ext cx="297180" cy="29718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212080" y="4892040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Pricing Inefficiencies</a:t>
            </a:r>
            <a:endParaRPr lang="en-US" sz="1600" dirty="0"/>
          </a:p>
        </p:txBody>
      </p:sp>
      <p:sp>
        <p:nvSpPr>
          <p:cNvPr id="27" name="Text 21"/>
          <p:cNvSpPr/>
          <p:nvPr/>
        </p:nvSpPr>
        <p:spPr>
          <a:xfrm>
            <a:off x="5212080" y="5303520"/>
            <a:ext cx="2788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High-risk borrowers are priced near the portfolio average — risk is not reflected in interest rates.</a:t>
            </a:r>
            <a:endParaRPr lang="en-US" sz="1150" dirty="0"/>
          </a:p>
        </p:txBody>
      </p:sp>
      <p:sp>
        <p:nvSpPr>
          <p:cNvPr id="28" name="Shape 22"/>
          <p:cNvSpPr/>
          <p:nvPr/>
        </p:nvSpPr>
        <p:spPr>
          <a:xfrm>
            <a:off x="8412480" y="3977640"/>
            <a:ext cx="3246120" cy="2286000"/>
          </a:xfrm>
          <a:prstGeom prst="roundRect">
            <a:avLst>
              <a:gd name="adj" fmla="val 3600"/>
            </a:avLst>
          </a:prstGeom>
          <a:solidFill>
            <a:srgbClr val="1B2436"/>
          </a:solidFill>
          <a:ln w="12700">
            <a:solidFill>
              <a:srgbClr val="2A3450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8641080" y="4206240"/>
            <a:ext cx="594360" cy="594360"/>
          </a:xfrm>
          <a:prstGeom prst="ellipse">
            <a:avLst/>
          </a:prstGeom>
          <a:solidFill>
            <a:srgbClr val="164E63"/>
          </a:solidFill>
          <a:ln/>
        </p:spPr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89670" y="4354830"/>
            <a:ext cx="297180" cy="29718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8641080" y="4892040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Delayed Delinquency Detection</a:t>
            </a:r>
            <a:endParaRPr lang="en-US" sz="1600" dirty="0"/>
          </a:p>
        </p:txBody>
      </p:sp>
      <p:sp>
        <p:nvSpPr>
          <p:cNvPr id="32" name="Text 25"/>
          <p:cNvSpPr/>
          <p:nvPr/>
        </p:nvSpPr>
        <p:spPr>
          <a:xfrm>
            <a:off x="8641080" y="5303520"/>
            <a:ext cx="2788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behavioral stress signals (missed EMIs, volatility, spending shocks) are not acted upon in time.</a:t>
            </a:r>
            <a:endParaRPr lang="en-US" sz="1150" dirty="0"/>
          </a:p>
        </p:txBody>
      </p:sp>
      <p:sp>
        <p:nvSpPr>
          <p:cNvPr id="33" name="Text 26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-2286000"/>
            <a:ext cx="6400800" cy="6400800"/>
          </a:xfrm>
          <a:prstGeom prst="ellipse">
            <a:avLst/>
          </a:prstGeom>
          <a:solidFill>
            <a:srgbClr val="22D3EE">
              <a:alpha val="7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Approach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six-stage analytics pipeline — from raw data to actionable credit policy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1627632" cy="2834640"/>
          </a:xfrm>
          <a:prstGeom prst="roundRect">
            <a:avLst>
              <a:gd name="adj" fmla="val 5056"/>
            </a:avLst>
          </a:prstGeom>
          <a:solidFill>
            <a:srgbClr val="1B2436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97864" y="1737360"/>
            <a:ext cx="329184" cy="329184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7" name="Text 5"/>
          <p:cNvSpPr/>
          <p:nvPr/>
        </p:nvSpPr>
        <p:spPr>
          <a:xfrm>
            <a:off x="1197864" y="173736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0F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042416" y="2240280"/>
            <a:ext cx="640080" cy="640080"/>
          </a:xfrm>
          <a:prstGeom prst="ellipse">
            <a:avLst/>
          </a:prstGeom>
          <a:solidFill>
            <a:srgbClr val="164E63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2436" y="2400300"/>
            <a:ext cx="320040" cy="3200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94360" y="3063240"/>
            <a:ext cx="15361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Data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58368" y="3611880"/>
            <a:ext cx="1408176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 applications enriched with repayment &amp; behavioral signals (58 columns)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194560" y="3200400"/>
            <a:ext cx="229149" cy="274320"/>
          </a:xfrm>
          <a:prstGeom prst="rightArrow">
            <a:avLst/>
          </a:prstGeom>
          <a:solidFill>
            <a:srgbClr val="22D3EE"/>
          </a:solidFill>
          <a:ln/>
        </p:spPr>
      </p:sp>
      <p:sp>
        <p:nvSpPr>
          <p:cNvPr id="13" name="Shape 10"/>
          <p:cNvSpPr/>
          <p:nvPr/>
        </p:nvSpPr>
        <p:spPr>
          <a:xfrm>
            <a:off x="2441997" y="1920240"/>
            <a:ext cx="1627632" cy="2834640"/>
          </a:xfrm>
          <a:prstGeom prst="roundRect">
            <a:avLst>
              <a:gd name="adj" fmla="val 5056"/>
            </a:avLst>
          </a:prstGeom>
          <a:solidFill>
            <a:srgbClr val="131A2B"/>
          </a:solidFill>
          <a:ln w="12700">
            <a:solidFill>
              <a:srgbClr val="2A345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091221" y="1737360"/>
            <a:ext cx="329184" cy="329184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5" name="Text 12"/>
          <p:cNvSpPr/>
          <p:nvPr/>
        </p:nvSpPr>
        <p:spPr>
          <a:xfrm>
            <a:off x="3091221" y="173736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0F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2935773" y="2240280"/>
            <a:ext cx="640080" cy="640080"/>
          </a:xfrm>
          <a:prstGeom prst="ellipse">
            <a:avLst/>
          </a:prstGeom>
          <a:solidFill>
            <a:srgbClr val="164E63"/>
          </a:solidFill>
          <a:ln/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95793" y="2400300"/>
            <a:ext cx="320040" cy="32004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2487717" y="3063240"/>
            <a:ext cx="15361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Engineering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2551725" y="3611880"/>
            <a:ext cx="1408176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30+ engineered features across profile, loan, repayment &amp; behavior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4087917" y="3200400"/>
            <a:ext cx="229149" cy="274320"/>
          </a:xfrm>
          <a:prstGeom prst="rightArrow">
            <a:avLst/>
          </a:prstGeom>
          <a:solidFill>
            <a:srgbClr val="22D3EE"/>
          </a:solidFill>
          <a:ln/>
        </p:spPr>
      </p:sp>
      <p:sp>
        <p:nvSpPr>
          <p:cNvPr id="21" name="Shape 17"/>
          <p:cNvSpPr/>
          <p:nvPr/>
        </p:nvSpPr>
        <p:spPr>
          <a:xfrm>
            <a:off x="4335353" y="1920240"/>
            <a:ext cx="1627632" cy="2834640"/>
          </a:xfrm>
          <a:prstGeom prst="roundRect">
            <a:avLst>
              <a:gd name="adj" fmla="val 5056"/>
            </a:avLst>
          </a:prstGeom>
          <a:solidFill>
            <a:srgbClr val="1B2436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4984577" y="1737360"/>
            <a:ext cx="329184" cy="329184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23" name="Text 19"/>
          <p:cNvSpPr/>
          <p:nvPr/>
        </p:nvSpPr>
        <p:spPr>
          <a:xfrm>
            <a:off x="4984577" y="173736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0F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4" name="Shape 20"/>
          <p:cNvSpPr/>
          <p:nvPr/>
        </p:nvSpPr>
        <p:spPr>
          <a:xfrm>
            <a:off x="4829129" y="2240280"/>
            <a:ext cx="640080" cy="640080"/>
          </a:xfrm>
          <a:prstGeom prst="ellipse">
            <a:avLst/>
          </a:prstGeom>
          <a:solidFill>
            <a:srgbClr val="164E63"/>
          </a:solidFill>
          <a:ln/>
        </p:spPr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9149" y="2400300"/>
            <a:ext cx="320040" cy="32004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4381073" y="3063240"/>
            <a:ext cx="15361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Segmentation</a:t>
            </a:r>
            <a:endParaRPr lang="en-US" sz="1300" dirty="0"/>
          </a:p>
        </p:txBody>
      </p:sp>
      <p:sp>
        <p:nvSpPr>
          <p:cNvPr id="27" name="Text 22"/>
          <p:cNvSpPr/>
          <p:nvPr/>
        </p:nvSpPr>
        <p:spPr>
          <a:xfrm>
            <a:off x="4445081" y="3611880"/>
            <a:ext cx="1408176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KMeans clustering into 4 customer risk segments</a:t>
            </a:r>
            <a:endParaRPr lang="en-US" sz="1000" dirty="0"/>
          </a:p>
        </p:txBody>
      </p:sp>
      <p:sp>
        <p:nvSpPr>
          <p:cNvPr id="28" name="Shape 23"/>
          <p:cNvSpPr/>
          <p:nvPr/>
        </p:nvSpPr>
        <p:spPr>
          <a:xfrm>
            <a:off x="5981273" y="3200400"/>
            <a:ext cx="229149" cy="274320"/>
          </a:xfrm>
          <a:prstGeom prst="rightArrow">
            <a:avLst/>
          </a:prstGeom>
          <a:solidFill>
            <a:srgbClr val="22D3EE"/>
          </a:solidFill>
          <a:ln/>
        </p:spPr>
      </p:sp>
      <p:sp>
        <p:nvSpPr>
          <p:cNvPr id="29" name="Shape 24"/>
          <p:cNvSpPr/>
          <p:nvPr/>
        </p:nvSpPr>
        <p:spPr>
          <a:xfrm>
            <a:off x="6228710" y="1920240"/>
            <a:ext cx="1627632" cy="2834640"/>
          </a:xfrm>
          <a:prstGeom prst="roundRect">
            <a:avLst>
              <a:gd name="adj" fmla="val 5056"/>
            </a:avLst>
          </a:prstGeom>
          <a:solidFill>
            <a:srgbClr val="131A2B"/>
          </a:solidFill>
          <a:ln w="12700">
            <a:solidFill>
              <a:srgbClr val="2A3450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6877934" y="1737360"/>
            <a:ext cx="329184" cy="329184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31" name="Text 26"/>
          <p:cNvSpPr/>
          <p:nvPr/>
        </p:nvSpPr>
        <p:spPr>
          <a:xfrm>
            <a:off x="6877934" y="173736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0F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2" name="Shape 27"/>
          <p:cNvSpPr/>
          <p:nvPr/>
        </p:nvSpPr>
        <p:spPr>
          <a:xfrm>
            <a:off x="6722486" y="2240280"/>
            <a:ext cx="640080" cy="640080"/>
          </a:xfrm>
          <a:prstGeom prst="ellipse">
            <a:avLst/>
          </a:prstGeom>
          <a:solidFill>
            <a:srgbClr val="164E63"/>
          </a:solidFill>
          <a:ln/>
        </p:spPr>
      </p:sp>
      <p:pic>
        <p:nvPicPr>
          <p:cNvPr id="3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82506" y="2400300"/>
            <a:ext cx="320040" cy="320040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6274430" y="3063240"/>
            <a:ext cx="15361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Default Prediction</a:t>
            </a:r>
            <a:endParaRPr lang="en-US" sz="1300" dirty="0"/>
          </a:p>
        </p:txBody>
      </p:sp>
      <p:sp>
        <p:nvSpPr>
          <p:cNvPr id="35" name="Text 29"/>
          <p:cNvSpPr/>
          <p:nvPr/>
        </p:nvSpPr>
        <p:spPr>
          <a:xfrm>
            <a:off x="6338438" y="3611880"/>
            <a:ext cx="1408176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classifier scoring default probability</a:t>
            </a:r>
            <a:endParaRPr lang="en-US" sz="1000" dirty="0"/>
          </a:p>
        </p:txBody>
      </p:sp>
      <p:sp>
        <p:nvSpPr>
          <p:cNvPr id="36" name="Shape 30"/>
          <p:cNvSpPr/>
          <p:nvPr/>
        </p:nvSpPr>
        <p:spPr>
          <a:xfrm>
            <a:off x="7874630" y="3200400"/>
            <a:ext cx="229149" cy="274320"/>
          </a:xfrm>
          <a:prstGeom prst="rightArrow">
            <a:avLst/>
          </a:prstGeom>
          <a:solidFill>
            <a:srgbClr val="22D3EE"/>
          </a:solidFill>
          <a:ln/>
        </p:spPr>
      </p:sp>
      <p:sp>
        <p:nvSpPr>
          <p:cNvPr id="37" name="Shape 31"/>
          <p:cNvSpPr/>
          <p:nvPr/>
        </p:nvSpPr>
        <p:spPr>
          <a:xfrm>
            <a:off x="8122067" y="1920240"/>
            <a:ext cx="1627632" cy="2834640"/>
          </a:xfrm>
          <a:prstGeom prst="roundRect">
            <a:avLst>
              <a:gd name="adj" fmla="val 5056"/>
            </a:avLst>
          </a:prstGeom>
          <a:solidFill>
            <a:srgbClr val="1B2436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8" name="Shape 32"/>
          <p:cNvSpPr/>
          <p:nvPr/>
        </p:nvSpPr>
        <p:spPr>
          <a:xfrm>
            <a:off x="8771291" y="1737360"/>
            <a:ext cx="329184" cy="329184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39" name="Text 33"/>
          <p:cNvSpPr/>
          <p:nvPr/>
        </p:nvSpPr>
        <p:spPr>
          <a:xfrm>
            <a:off x="8771291" y="173736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0F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40" name="Shape 34"/>
          <p:cNvSpPr/>
          <p:nvPr/>
        </p:nvSpPr>
        <p:spPr>
          <a:xfrm>
            <a:off x="8615843" y="2240280"/>
            <a:ext cx="640080" cy="640080"/>
          </a:xfrm>
          <a:prstGeom prst="ellipse">
            <a:avLst/>
          </a:prstGeom>
          <a:solidFill>
            <a:srgbClr val="164E63"/>
          </a:solidFill>
          <a:ln/>
        </p:spPr>
      </p:sp>
      <p:pic>
        <p:nvPicPr>
          <p:cNvPr id="4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75863" y="2400300"/>
            <a:ext cx="320040" cy="320040"/>
          </a:xfrm>
          <a:prstGeom prst="rect">
            <a:avLst/>
          </a:prstGeom>
        </p:spPr>
      </p:pic>
      <p:sp>
        <p:nvSpPr>
          <p:cNvPr id="42" name="Text 35"/>
          <p:cNvSpPr/>
          <p:nvPr/>
        </p:nvSpPr>
        <p:spPr>
          <a:xfrm>
            <a:off x="8167787" y="3063240"/>
            <a:ext cx="15361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Early Warning System</a:t>
            </a:r>
            <a:endParaRPr lang="en-US" sz="1300" dirty="0"/>
          </a:p>
        </p:txBody>
      </p:sp>
      <p:sp>
        <p:nvSpPr>
          <p:cNvPr id="43" name="Text 36"/>
          <p:cNvSpPr/>
          <p:nvPr/>
        </p:nvSpPr>
        <p:spPr>
          <a:xfrm>
            <a:off x="8231795" y="3611880"/>
            <a:ext cx="1408176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/ Amber / Red risk tiers with trigger logic</a:t>
            </a:r>
            <a:endParaRPr lang="en-US" sz="1000" dirty="0"/>
          </a:p>
        </p:txBody>
      </p:sp>
      <p:sp>
        <p:nvSpPr>
          <p:cNvPr id="44" name="Shape 37"/>
          <p:cNvSpPr/>
          <p:nvPr/>
        </p:nvSpPr>
        <p:spPr>
          <a:xfrm>
            <a:off x="9767987" y="3200400"/>
            <a:ext cx="229149" cy="274320"/>
          </a:xfrm>
          <a:prstGeom prst="rightArrow">
            <a:avLst/>
          </a:prstGeom>
          <a:solidFill>
            <a:srgbClr val="22D3EE"/>
          </a:solidFill>
          <a:ln/>
        </p:spPr>
      </p:sp>
      <p:sp>
        <p:nvSpPr>
          <p:cNvPr id="45" name="Shape 38"/>
          <p:cNvSpPr/>
          <p:nvPr/>
        </p:nvSpPr>
        <p:spPr>
          <a:xfrm>
            <a:off x="10015423" y="1920240"/>
            <a:ext cx="1627632" cy="2834640"/>
          </a:xfrm>
          <a:prstGeom prst="roundRect">
            <a:avLst>
              <a:gd name="adj" fmla="val 5056"/>
            </a:avLst>
          </a:prstGeom>
          <a:solidFill>
            <a:srgbClr val="131A2B"/>
          </a:solidFill>
          <a:ln w="12700">
            <a:solidFill>
              <a:srgbClr val="2A3450"/>
            </a:solidFill>
            <a:prstDash val="solid"/>
          </a:ln>
        </p:spPr>
      </p:sp>
      <p:sp>
        <p:nvSpPr>
          <p:cNvPr id="46" name="Shape 39"/>
          <p:cNvSpPr/>
          <p:nvPr/>
        </p:nvSpPr>
        <p:spPr>
          <a:xfrm>
            <a:off x="10664647" y="1737360"/>
            <a:ext cx="329184" cy="329184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47" name="Text 40"/>
          <p:cNvSpPr/>
          <p:nvPr/>
        </p:nvSpPr>
        <p:spPr>
          <a:xfrm>
            <a:off x="10664647" y="173736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0F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48" name="Shape 41"/>
          <p:cNvSpPr/>
          <p:nvPr/>
        </p:nvSpPr>
        <p:spPr>
          <a:xfrm>
            <a:off x="10509199" y="2240280"/>
            <a:ext cx="640080" cy="640080"/>
          </a:xfrm>
          <a:prstGeom prst="ellipse">
            <a:avLst/>
          </a:prstGeom>
          <a:solidFill>
            <a:srgbClr val="164E63"/>
          </a:solidFill>
          <a:ln/>
        </p:spPr>
      </p:sp>
      <p:pic>
        <p:nvPicPr>
          <p:cNvPr id="4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69219" y="2400300"/>
            <a:ext cx="320040" cy="320040"/>
          </a:xfrm>
          <a:prstGeom prst="rect">
            <a:avLst/>
          </a:prstGeom>
        </p:spPr>
      </p:pic>
      <p:sp>
        <p:nvSpPr>
          <p:cNvPr id="50" name="Text 42"/>
          <p:cNvSpPr/>
          <p:nvPr/>
        </p:nvSpPr>
        <p:spPr>
          <a:xfrm>
            <a:off x="10061143" y="3063240"/>
            <a:ext cx="15361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Policy Recommend.</a:t>
            </a:r>
            <a:endParaRPr lang="en-US" sz="1300" dirty="0"/>
          </a:p>
        </p:txBody>
      </p:sp>
      <p:sp>
        <p:nvSpPr>
          <p:cNvPr id="51" name="Text 43"/>
          <p:cNvSpPr/>
          <p:nvPr/>
        </p:nvSpPr>
        <p:spPr>
          <a:xfrm>
            <a:off x="10125151" y="3611880"/>
            <a:ext cx="1408176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actionable underwriting &amp; pricing interventions</a:t>
            </a:r>
            <a:endParaRPr lang="en-US" sz="1000" dirty="0"/>
          </a:p>
        </p:txBody>
      </p:sp>
      <p:sp>
        <p:nvSpPr>
          <p:cNvPr id="52" name="Shape 44"/>
          <p:cNvSpPr/>
          <p:nvPr/>
        </p:nvSpPr>
        <p:spPr>
          <a:xfrm>
            <a:off x="548640" y="5074920"/>
            <a:ext cx="11094415" cy="1005840"/>
          </a:xfrm>
          <a:prstGeom prst="roundRect">
            <a:avLst>
              <a:gd name="adj" fmla="val 8182"/>
            </a:avLst>
          </a:prstGeom>
          <a:solidFill>
            <a:srgbClr val="0F2A33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53" name="Shape 45"/>
          <p:cNvSpPr/>
          <p:nvPr/>
        </p:nvSpPr>
        <p:spPr>
          <a:xfrm>
            <a:off x="777240" y="5303520"/>
            <a:ext cx="548640" cy="548640"/>
          </a:xfrm>
          <a:prstGeom prst="ellipse">
            <a:avLst/>
          </a:prstGeom>
          <a:solidFill>
            <a:srgbClr val="164E63"/>
          </a:solidFill>
          <a:ln/>
        </p:spPr>
      </p:sp>
      <p:pic>
        <p:nvPicPr>
          <p:cNvPr id="54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4400" y="5440680"/>
            <a:ext cx="274320" cy="274320"/>
          </a:xfrm>
          <a:prstGeom prst="rect">
            <a:avLst/>
          </a:prstGeom>
        </p:spPr>
      </p:pic>
      <p:sp>
        <p:nvSpPr>
          <p:cNvPr id="55" name="Text 46"/>
          <p:cNvSpPr/>
          <p:nvPr/>
        </p:nvSpPr>
        <p:spPr>
          <a:xfrm>
            <a:off x="1508760" y="5074920"/>
            <a:ext cx="9875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stage builds toward one goal: translating raw lending data into a credit policy that the CRO can implement within weeks, not quarters.</a:t>
            </a:r>
            <a:endParaRPr lang="en-US" sz="1400" dirty="0"/>
          </a:p>
        </p:txBody>
      </p:sp>
      <p:sp>
        <p:nvSpPr>
          <p:cNvPr id="56" name="Text 47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0" y="4572000"/>
            <a:ext cx="4572000" cy="4572000"/>
          </a:xfrm>
          <a:prstGeom prst="ellipse">
            <a:avLst/>
          </a:prstGeom>
          <a:solidFill>
            <a:srgbClr val="22D3EE">
              <a:alpha val="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Portfolio Overview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snapshot of scale, quality, and risk across the loan book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2606040" cy="1691640"/>
          </a:xfrm>
          <a:prstGeom prst="roundRect">
            <a:avLst>
              <a:gd name="adj" fmla="val 4865"/>
            </a:avLst>
          </a:prstGeom>
          <a:solidFill>
            <a:srgbClr val="1B2436"/>
          </a:solidFill>
          <a:ln w="12700">
            <a:solidFill>
              <a:srgbClr val="2A34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783080"/>
            <a:ext cx="594360" cy="594360"/>
          </a:xfrm>
          <a:prstGeom prst="ellipse">
            <a:avLst/>
          </a:prstGeom>
          <a:solidFill>
            <a:srgbClr val="164E63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110" y="1931670"/>
            <a:ext cx="297180" cy="2971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251460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5,000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548640" y="301752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Received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37560" y="1554480"/>
            <a:ext cx="2606040" cy="1691640"/>
          </a:xfrm>
          <a:prstGeom prst="roundRect">
            <a:avLst>
              <a:gd name="adj" fmla="val 4865"/>
            </a:avLst>
          </a:prstGeom>
          <a:solidFill>
            <a:srgbClr val="1B2436"/>
          </a:solidFill>
          <a:ln w="12700">
            <a:solidFill>
              <a:srgbClr val="2A345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520440" y="1783080"/>
            <a:ext cx="594360" cy="594360"/>
          </a:xfrm>
          <a:prstGeom prst="ellipse">
            <a:avLst/>
          </a:prstGeom>
          <a:solidFill>
            <a:srgbClr val="164E63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69030" y="1931670"/>
            <a:ext cx="297180" cy="2971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337560" y="251460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2,338</a:t>
            </a:r>
            <a:endParaRPr lang="en-US" sz="2600" dirty="0"/>
          </a:p>
        </p:txBody>
      </p:sp>
      <p:sp>
        <p:nvSpPr>
          <p:cNvPr id="14" name="Text 10"/>
          <p:cNvSpPr/>
          <p:nvPr/>
        </p:nvSpPr>
        <p:spPr>
          <a:xfrm>
            <a:off x="3337560" y="301752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Loans Approved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126480" y="1554480"/>
            <a:ext cx="2606040" cy="1691640"/>
          </a:xfrm>
          <a:prstGeom prst="roundRect">
            <a:avLst>
              <a:gd name="adj" fmla="val 4865"/>
            </a:avLst>
          </a:prstGeom>
          <a:solidFill>
            <a:srgbClr val="1B2436"/>
          </a:solidFill>
          <a:ln w="12700">
            <a:solidFill>
              <a:srgbClr val="2A3450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309360" y="1783080"/>
            <a:ext cx="594360" cy="594360"/>
          </a:xfrm>
          <a:prstGeom prst="ellipse">
            <a:avLst/>
          </a:prstGeom>
          <a:solidFill>
            <a:srgbClr val="164E63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57950" y="1931670"/>
            <a:ext cx="297180" cy="2971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126480" y="251460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46.8%</a:t>
            </a:r>
            <a:endParaRPr lang="en-US" sz="2600" dirty="0"/>
          </a:p>
        </p:txBody>
      </p:sp>
      <p:sp>
        <p:nvSpPr>
          <p:cNvPr id="19" name="Text 14"/>
          <p:cNvSpPr/>
          <p:nvPr/>
        </p:nvSpPr>
        <p:spPr>
          <a:xfrm>
            <a:off x="6126480" y="301752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Rate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8915400" y="1554480"/>
            <a:ext cx="2606040" cy="1691640"/>
          </a:xfrm>
          <a:prstGeom prst="roundRect">
            <a:avLst>
              <a:gd name="adj" fmla="val 4865"/>
            </a:avLst>
          </a:prstGeom>
          <a:solidFill>
            <a:srgbClr val="1B2436"/>
          </a:solidFill>
          <a:ln w="12700">
            <a:solidFill>
              <a:srgbClr val="2A3450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9098280" y="1783080"/>
            <a:ext cx="594360" cy="594360"/>
          </a:xfrm>
          <a:prstGeom prst="ellipse">
            <a:avLst/>
          </a:prstGeom>
          <a:solidFill>
            <a:srgbClr val="164E63"/>
          </a:solidFill>
          <a:ln/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46870" y="1931670"/>
            <a:ext cx="297180" cy="29718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8915400" y="251460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₹204.5 Cr</a:t>
            </a:r>
            <a:endParaRPr lang="en-US" sz="2600" dirty="0"/>
          </a:p>
        </p:txBody>
      </p:sp>
      <p:sp>
        <p:nvSpPr>
          <p:cNvPr id="24" name="Text 18"/>
          <p:cNvSpPr/>
          <p:nvPr/>
        </p:nvSpPr>
        <p:spPr>
          <a:xfrm>
            <a:off x="8915400" y="301752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Portfolio Value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548640" y="3520440"/>
            <a:ext cx="11094415" cy="2606040"/>
          </a:xfrm>
          <a:prstGeom prst="roundRect">
            <a:avLst>
              <a:gd name="adj" fmla="val 3158"/>
            </a:avLst>
          </a:prstGeom>
          <a:solidFill>
            <a:srgbClr val="10242E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868680" y="37033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RISK HEALTH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868680" y="416052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871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20.4%</a:t>
            </a:r>
            <a:endParaRPr lang="en-US" sz="3600" dirty="0"/>
          </a:p>
        </p:txBody>
      </p:sp>
      <p:sp>
        <p:nvSpPr>
          <p:cNvPr id="28" name="Text 22"/>
          <p:cNvSpPr/>
          <p:nvPr/>
        </p:nvSpPr>
        <p:spPr>
          <a:xfrm>
            <a:off x="868680" y="489204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NPA Rate</a:t>
            </a:r>
            <a:endParaRPr lang="en-US" sz="1400" dirty="0"/>
          </a:p>
        </p:txBody>
      </p:sp>
      <p:sp>
        <p:nvSpPr>
          <p:cNvPr id="29" name="Text 23"/>
          <p:cNvSpPr/>
          <p:nvPr/>
        </p:nvSpPr>
        <p:spPr>
          <a:xfrm>
            <a:off x="868680" y="521208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the safe regulatory threshold of 5%</a:t>
            </a:r>
            <a:endParaRPr lang="en-US" sz="1100" dirty="0"/>
          </a:p>
        </p:txBody>
      </p:sp>
      <p:sp>
        <p:nvSpPr>
          <p:cNvPr id="30" name="Text 24"/>
          <p:cNvSpPr/>
          <p:nvPr/>
        </p:nvSpPr>
        <p:spPr>
          <a:xfrm>
            <a:off x="3611880" y="416052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871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24.9%</a:t>
            </a:r>
            <a:endParaRPr lang="en-US" sz="3600" dirty="0"/>
          </a:p>
        </p:txBody>
      </p:sp>
      <p:sp>
        <p:nvSpPr>
          <p:cNvPr id="31" name="Text 25"/>
          <p:cNvSpPr/>
          <p:nvPr/>
        </p:nvSpPr>
        <p:spPr>
          <a:xfrm>
            <a:off x="3611880" y="489204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Rate</a:t>
            </a:r>
            <a:endParaRPr lang="en-US" sz="1400" dirty="0"/>
          </a:p>
        </p:txBody>
      </p:sp>
      <p:sp>
        <p:nvSpPr>
          <p:cNvPr id="32" name="Text 26"/>
          <p:cNvSpPr/>
          <p:nvPr/>
        </p:nvSpPr>
        <p:spPr>
          <a:xfrm>
            <a:off x="3611880" y="521208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approved loans — driven by concentrated segments</a:t>
            </a:r>
            <a:endParaRPr lang="en-US" sz="1100" dirty="0"/>
          </a:p>
        </p:txBody>
      </p:sp>
      <p:sp>
        <p:nvSpPr>
          <p:cNvPr id="33" name="Text 27"/>
          <p:cNvSpPr/>
          <p:nvPr/>
        </p:nvSpPr>
        <p:spPr>
          <a:xfrm>
            <a:off x="6355080" y="416052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871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30.5%</a:t>
            </a:r>
            <a:endParaRPr lang="en-US" sz="3600" dirty="0"/>
          </a:p>
        </p:txBody>
      </p:sp>
      <p:sp>
        <p:nvSpPr>
          <p:cNvPr id="34" name="Text 28"/>
          <p:cNvSpPr/>
          <p:nvPr/>
        </p:nvSpPr>
        <p:spPr>
          <a:xfrm>
            <a:off x="6355080" y="489204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PAR30</a:t>
            </a:r>
            <a:endParaRPr lang="en-US" sz="1400" dirty="0"/>
          </a:p>
        </p:txBody>
      </p:sp>
      <p:sp>
        <p:nvSpPr>
          <p:cNvPr id="35" name="Text 29"/>
          <p:cNvSpPr/>
          <p:nvPr/>
        </p:nvSpPr>
        <p:spPr>
          <a:xfrm>
            <a:off x="6355080" y="521208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Nearly 1 in 3 borrowers carry elevated default probability</a:t>
            </a:r>
            <a:endParaRPr lang="en-US" sz="1100" dirty="0"/>
          </a:p>
        </p:txBody>
      </p:sp>
      <p:sp>
        <p:nvSpPr>
          <p:cNvPr id="36" name="Text 30"/>
          <p:cNvSpPr/>
          <p:nvPr/>
        </p:nvSpPr>
        <p:spPr>
          <a:xfrm>
            <a:off x="9098280" y="416052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BB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₹50+ Cr</a:t>
            </a:r>
            <a:endParaRPr lang="en-US" sz="3600" dirty="0"/>
          </a:p>
        </p:txBody>
      </p:sp>
      <p:sp>
        <p:nvSpPr>
          <p:cNvPr id="37" name="Text 31"/>
          <p:cNvSpPr/>
          <p:nvPr/>
        </p:nvSpPr>
        <p:spPr>
          <a:xfrm>
            <a:off x="9098280" y="489204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at Risk (if unaddressed)</a:t>
            </a:r>
            <a:endParaRPr lang="en-US" sz="1400" dirty="0"/>
          </a:p>
        </p:txBody>
      </p:sp>
      <p:sp>
        <p:nvSpPr>
          <p:cNvPr id="38" name="Text 32"/>
          <p:cNvSpPr/>
          <p:nvPr/>
        </p:nvSpPr>
        <p:spPr>
          <a:xfrm>
            <a:off x="9098280" y="521208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within two quarters under current trends</a:t>
            </a:r>
            <a:endParaRPr lang="en-US" sz="1100" dirty="0"/>
          </a:p>
        </p:txBody>
      </p:sp>
      <p:sp>
        <p:nvSpPr>
          <p:cNvPr id="39" name="Text 33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0E7490">
              <a:alpha val="9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Segmentation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KMeans clustering reveals four distinct borrower profiles with sharply different risk-return characteristics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2606040" cy="4480560"/>
          </a:xfrm>
          <a:prstGeom prst="roundRect">
            <a:avLst>
              <a:gd name="adj" fmla="val 3158"/>
            </a:avLst>
          </a:prstGeom>
          <a:solidFill>
            <a:srgbClr val="1B2436"/>
          </a:solidFill>
          <a:ln w="12700">
            <a:solidFill>
              <a:srgbClr val="2A34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554480"/>
            <a:ext cx="2606040" cy="914400"/>
          </a:xfrm>
          <a:prstGeom prst="roundRect">
            <a:avLst>
              <a:gd name="adj" fmla="val 9000"/>
            </a:avLst>
          </a:prstGeom>
          <a:solidFill>
            <a:srgbClr val="34D399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2011680"/>
            <a:ext cx="2606040" cy="45720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554480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0F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Prime Borrowers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2606040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34D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~10%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548640" y="342900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Rate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22960" y="3840480"/>
            <a:ext cx="2057400" cy="13716"/>
          </a:xfrm>
          <a:prstGeom prst="rect">
            <a:avLst/>
          </a:prstGeom>
          <a:solidFill>
            <a:srgbClr val="2A3450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977640"/>
            <a:ext cx="2057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Credit Score
</a:t>
            </a:r>
            <a:endParaRPr lang="en-US" sz="10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780+
</a:t>
            </a:r>
            <a:endParaRPr lang="en-US" sz="10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Monthly Income
</a:t>
            </a:r>
            <a:endParaRPr lang="en-US" sz="10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₹1,20,000+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31520" y="5349240"/>
            <a:ext cx="2240280" cy="594360"/>
          </a:xfrm>
          <a:prstGeom prst="rect">
            <a:avLst/>
          </a:prstGeom>
          <a:solidFill>
            <a:srgbClr val="131A2B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5349240"/>
            <a:ext cx="2148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— increase limits, top-up offers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337560" y="1554480"/>
            <a:ext cx="2606040" cy="4480560"/>
          </a:xfrm>
          <a:prstGeom prst="roundRect">
            <a:avLst>
              <a:gd name="adj" fmla="val 3158"/>
            </a:avLst>
          </a:prstGeom>
          <a:solidFill>
            <a:srgbClr val="1B2436"/>
          </a:solidFill>
          <a:ln w="12700">
            <a:solidFill>
              <a:srgbClr val="2A345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337560" y="1554480"/>
            <a:ext cx="2606040" cy="914400"/>
          </a:xfrm>
          <a:prstGeom prst="roundRect">
            <a:avLst>
              <a:gd name="adj" fmla="val 9000"/>
            </a:avLst>
          </a:prstGeom>
          <a:solidFill>
            <a:srgbClr val="22D3EE"/>
          </a:solidFill>
          <a:ln/>
        </p:spPr>
      </p:sp>
      <p:sp>
        <p:nvSpPr>
          <p:cNvPr id="17" name="Shape 15"/>
          <p:cNvSpPr/>
          <p:nvPr/>
        </p:nvSpPr>
        <p:spPr>
          <a:xfrm>
            <a:off x="3337560" y="2011680"/>
            <a:ext cx="2606040" cy="4572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8" name="Text 16"/>
          <p:cNvSpPr/>
          <p:nvPr/>
        </p:nvSpPr>
        <p:spPr>
          <a:xfrm>
            <a:off x="3337560" y="1554480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0F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Near-Prime Borrowers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337560" y="2606040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~24%</a:t>
            </a:r>
            <a:endParaRPr lang="en-US" sz="4200" dirty="0"/>
          </a:p>
        </p:txBody>
      </p:sp>
      <p:sp>
        <p:nvSpPr>
          <p:cNvPr id="20" name="Text 18"/>
          <p:cNvSpPr/>
          <p:nvPr/>
        </p:nvSpPr>
        <p:spPr>
          <a:xfrm>
            <a:off x="3337560" y="342900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Rate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11880" y="3840480"/>
            <a:ext cx="2057400" cy="13716"/>
          </a:xfrm>
          <a:prstGeom prst="rect">
            <a:avLst/>
          </a:prstGeom>
          <a:solidFill>
            <a:srgbClr val="2A3450"/>
          </a:solidFill>
          <a:ln/>
        </p:spPr>
      </p:sp>
      <p:sp>
        <p:nvSpPr>
          <p:cNvPr id="22" name="Text 20"/>
          <p:cNvSpPr/>
          <p:nvPr/>
        </p:nvSpPr>
        <p:spPr>
          <a:xfrm>
            <a:off x="3611880" y="3977640"/>
            <a:ext cx="2057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Credit Score
</a:t>
            </a:r>
            <a:endParaRPr lang="en-US" sz="10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650 – 780
</a:t>
            </a:r>
            <a:endParaRPr lang="en-US" sz="10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Monthly Income
</a:t>
            </a:r>
            <a:endParaRPr lang="en-US" sz="10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₹70,000 – ₹1,20,000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520440" y="5349240"/>
            <a:ext cx="2240280" cy="594360"/>
          </a:xfrm>
          <a:prstGeom prst="rect">
            <a:avLst/>
          </a:prstGeom>
          <a:solidFill>
            <a:srgbClr val="131A2B"/>
          </a:solidFill>
          <a:ln/>
        </p:spPr>
      </p:sp>
      <p:sp>
        <p:nvSpPr>
          <p:cNvPr id="24" name="Text 22"/>
          <p:cNvSpPr/>
          <p:nvPr/>
        </p:nvSpPr>
        <p:spPr>
          <a:xfrm>
            <a:off x="3566160" y="5349240"/>
            <a:ext cx="2148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— standard terms, monitor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126480" y="1554480"/>
            <a:ext cx="2606040" cy="4480560"/>
          </a:xfrm>
          <a:prstGeom prst="roundRect">
            <a:avLst>
              <a:gd name="adj" fmla="val 3158"/>
            </a:avLst>
          </a:prstGeom>
          <a:solidFill>
            <a:srgbClr val="1B2436"/>
          </a:solidFill>
          <a:ln w="12700">
            <a:solidFill>
              <a:srgbClr val="2A345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126480" y="1554480"/>
            <a:ext cx="2606040" cy="914400"/>
          </a:xfrm>
          <a:prstGeom prst="roundRect">
            <a:avLst>
              <a:gd name="adj" fmla="val 9000"/>
            </a:avLst>
          </a:prstGeom>
          <a:solidFill>
            <a:srgbClr val="FBBF24"/>
          </a:solidFill>
          <a:ln/>
        </p:spPr>
      </p:sp>
      <p:sp>
        <p:nvSpPr>
          <p:cNvPr id="27" name="Shape 25"/>
          <p:cNvSpPr/>
          <p:nvPr/>
        </p:nvSpPr>
        <p:spPr>
          <a:xfrm>
            <a:off x="6126480" y="2011680"/>
            <a:ext cx="2606040" cy="45720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28" name="Text 26"/>
          <p:cNvSpPr/>
          <p:nvPr/>
        </p:nvSpPr>
        <p:spPr>
          <a:xfrm>
            <a:off x="6126480" y="1554480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0F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Subprime Borrowers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126480" y="2606040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BB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~35%</a:t>
            </a:r>
            <a:endParaRPr lang="en-US" sz="4200" dirty="0"/>
          </a:p>
        </p:txBody>
      </p:sp>
      <p:sp>
        <p:nvSpPr>
          <p:cNvPr id="30" name="Text 28"/>
          <p:cNvSpPr/>
          <p:nvPr/>
        </p:nvSpPr>
        <p:spPr>
          <a:xfrm>
            <a:off x="6126480" y="342900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Rate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400800" y="3840480"/>
            <a:ext cx="2057400" cy="13716"/>
          </a:xfrm>
          <a:prstGeom prst="rect">
            <a:avLst/>
          </a:prstGeom>
          <a:solidFill>
            <a:srgbClr val="2A3450"/>
          </a:solidFill>
          <a:ln/>
        </p:spPr>
      </p:sp>
      <p:sp>
        <p:nvSpPr>
          <p:cNvPr id="32" name="Text 30"/>
          <p:cNvSpPr/>
          <p:nvPr/>
        </p:nvSpPr>
        <p:spPr>
          <a:xfrm>
            <a:off x="6400800" y="3977640"/>
            <a:ext cx="2057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Credit Score
</a:t>
            </a:r>
            <a:endParaRPr lang="en-US" sz="10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– 650
</a:t>
            </a:r>
            <a:endParaRPr lang="en-US" sz="10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Monthly Income
</a:t>
            </a:r>
            <a:endParaRPr lang="en-US" sz="10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₹35,000 – ₹70,000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309360" y="5349240"/>
            <a:ext cx="2240280" cy="594360"/>
          </a:xfrm>
          <a:prstGeom prst="rect">
            <a:avLst/>
          </a:prstGeom>
          <a:solidFill>
            <a:srgbClr val="131A2B"/>
          </a:solidFill>
          <a:ln/>
        </p:spPr>
      </p:sp>
      <p:sp>
        <p:nvSpPr>
          <p:cNvPr id="34" name="Text 32"/>
          <p:cNvSpPr/>
          <p:nvPr/>
        </p:nvSpPr>
        <p:spPr>
          <a:xfrm>
            <a:off x="6355080" y="5349240"/>
            <a:ext cx="2148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— +150bps, shorter tenure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8915400" y="1554480"/>
            <a:ext cx="2606040" cy="4480560"/>
          </a:xfrm>
          <a:prstGeom prst="roundRect">
            <a:avLst>
              <a:gd name="adj" fmla="val 3158"/>
            </a:avLst>
          </a:prstGeom>
          <a:solidFill>
            <a:srgbClr val="1B2436"/>
          </a:solidFill>
          <a:ln w="12700">
            <a:solidFill>
              <a:srgbClr val="2A345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915400" y="1554480"/>
            <a:ext cx="2606040" cy="914400"/>
          </a:xfrm>
          <a:prstGeom prst="roundRect">
            <a:avLst>
              <a:gd name="adj" fmla="val 9000"/>
            </a:avLst>
          </a:prstGeom>
          <a:solidFill>
            <a:srgbClr val="F87171"/>
          </a:solidFill>
          <a:ln/>
        </p:spPr>
      </p:sp>
      <p:sp>
        <p:nvSpPr>
          <p:cNvPr id="37" name="Shape 35"/>
          <p:cNvSpPr/>
          <p:nvPr/>
        </p:nvSpPr>
        <p:spPr>
          <a:xfrm>
            <a:off x="8915400" y="2011680"/>
            <a:ext cx="2606040" cy="457200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38" name="Text 36"/>
          <p:cNvSpPr/>
          <p:nvPr/>
        </p:nvSpPr>
        <p:spPr>
          <a:xfrm>
            <a:off x="8915400" y="1554480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0F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High-Risk Borrowers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915400" y="2606040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871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~39%</a:t>
            </a:r>
            <a:endParaRPr lang="en-US" sz="4200" dirty="0"/>
          </a:p>
        </p:txBody>
      </p:sp>
      <p:sp>
        <p:nvSpPr>
          <p:cNvPr id="40" name="Text 38"/>
          <p:cNvSpPr/>
          <p:nvPr/>
        </p:nvSpPr>
        <p:spPr>
          <a:xfrm>
            <a:off x="8915400" y="342900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Rate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9189720" y="3840480"/>
            <a:ext cx="2057400" cy="13716"/>
          </a:xfrm>
          <a:prstGeom prst="rect">
            <a:avLst/>
          </a:prstGeom>
          <a:solidFill>
            <a:srgbClr val="2A3450"/>
          </a:solidFill>
          <a:ln/>
        </p:spPr>
      </p:sp>
      <p:sp>
        <p:nvSpPr>
          <p:cNvPr id="42" name="Text 40"/>
          <p:cNvSpPr/>
          <p:nvPr/>
        </p:nvSpPr>
        <p:spPr>
          <a:xfrm>
            <a:off x="9189720" y="3977640"/>
            <a:ext cx="2057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Credit Score
</a:t>
            </a:r>
            <a:endParaRPr lang="en-US" sz="10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500
</a:t>
            </a:r>
            <a:endParaRPr lang="en-US" sz="10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Monthly Income
</a:t>
            </a:r>
            <a:endParaRPr lang="en-US" sz="10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₹35,000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9098280" y="5349240"/>
            <a:ext cx="2240280" cy="594360"/>
          </a:xfrm>
          <a:prstGeom prst="rect">
            <a:avLst/>
          </a:prstGeom>
          <a:solidFill>
            <a:srgbClr val="131A2B"/>
          </a:solidFill>
          <a:ln/>
        </p:spPr>
      </p:sp>
      <p:sp>
        <p:nvSpPr>
          <p:cNvPr id="44" name="Text 42"/>
          <p:cNvSpPr/>
          <p:nvPr/>
        </p:nvSpPr>
        <p:spPr>
          <a:xfrm>
            <a:off x="9144000" y="5349240"/>
            <a:ext cx="2148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 — manual review, limit credit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0" y="-1828800"/>
            <a:ext cx="4572000" cy="4572000"/>
          </a:xfrm>
          <a:prstGeom prst="ellipse">
            <a:avLst/>
          </a:prstGeom>
          <a:solidFill>
            <a:srgbClr val="22D3EE">
              <a:alpha val="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Drivers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Random Forest model identifies the strongest predictors of default — ranked by importance</a:t>
            </a:r>
            <a:endParaRPr lang="en-US" sz="14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48640" y="1554480"/>
          <a:ext cx="694944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7726680" y="1554480"/>
            <a:ext cx="3931920" cy="676656"/>
          </a:xfrm>
          <a:prstGeom prst="roundRect">
            <a:avLst>
              <a:gd name="adj" fmla="val 12162"/>
            </a:avLst>
          </a:prstGeom>
          <a:solidFill>
            <a:srgbClr val="1B2436"/>
          </a:solidFill>
          <a:ln w="12700">
            <a:solidFill>
              <a:srgbClr val="2A345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863840" y="1664208"/>
            <a:ext cx="457200" cy="45720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8" name="Text 5"/>
          <p:cNvSpPr/>
          <p:nvPr/>
        </p:nvSpPr>
        <p:spPr>
          <a:xfrm>
            <a:off x="7863840" y="16642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0F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458200" y="1609344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Probability Score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8458200" y="1883664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Underwriting model output — highest predictive power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7726680" y="2322576"/>
            <a:ext cx="3931920" cy="676656"/>
          </a:xfrm>
          <a:prstGeom prst="roundRect">
            <a:avLst>
              <a:gd name="adj" fmla="val 12162"/>
            </a:avLst>
          </a:prstGeom>
          <a:solidFill>
            <a:srgbClr val="1B2436"/>
          </a:solidFill>
          <a:ln w="12700">
            <a:solidFill>
              <a:srgbClr val="2A345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863840" y="2432304"/>
            <a:ext cx="457200" cy="45720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3" name="Text 10"/>
          <p:cNvSpPr/>
          <p:nvPr/>
        </p:nvSpPr>
        <p:spPr>
          <a:xfrm>
            <a:off x="7863840" y="24323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0F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8458200" y="23774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Score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8458200" y="26517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Borrowers below 550 show 3x average default rate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7726680" y="3090672"/>
            <a:ext cx="3931920" cy="676656"/>
          </a:xfrm>
          <a:prstGeom prst="roundRect">
            <a:avLst>
              <a:gd name="adj" fmla="val 12162"/>
            </a:avLst>
          </a:prstGeom>
          <a:solidFill>
            <a:srgbClr val="1B2436"/>
          </a:solidFill>
          <a:ln w="12700">
            <a:solidFill>
              <a:srgbClr val="2A345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863840" y="3200400"/>
            <a:ext cx="457200" cy="45720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8" name="Text 15"/>
          <p:cNvSpPr/>
          <p:nvPr/>
        </p:nvSpPr>
        <p:spPr>
          <a:xfrm>
            <a:off x="7863840" y="3200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0F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8458200" y="3145536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 (Composite)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8458200" y="3419856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against actual default outcomes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7726680" y="3858768"/>
            <a:ext cx="3931920" cy="676656"/>
          </a:xfrm>
          <a:prstGeom prst="roundRect">
            <a:avLst>
              <a:gd name="adj" fmla="val 12162"/>
            </a:avLst>
          </a:prstGeom>
          <a:solidFill>
            <a:srgbClr val="1B2436"/>
          </a:solidFill>
          <a:ln w="12700">
            <a:solidFill>
              <a:srgbClr val="2A345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863840" y="3968496"/>
            <a:ext cx="457200" cy="45720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23" name="Text 20"/>
          <p:cNvSpPr/>
          <p:nvPr/>
        </p:nvSpPr>
        <p:spPr>
          <a:xfrm>
            <a:off x="7863840" y="39684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0F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8458200" y="3913632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EMI-to-Income Ratio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8458200" y="4187952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0.50 → 19.6% default rate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7726680" y="4626864"/>
            <a:ext cx="3931920" cy="676656"/>
          </a:xfrm>
          <a:prstGeom prst="roundRect">
            <a:avLst>
              <a:gd name="adj" fmla="val 12162"/>
            </a:avLst>
          </a:prstGeom>
          <a:solidFill>
            <a:srgbClr val="1B2436"/>
          </a:solidFill>
          <a:ln w="12700">
            <a:solidFill>
              <a:srgbClr val="2A3450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863840" y="4736592"/>
            <a:ext cx="457200" cy="45720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28" name="Text 25"/>
          <p:cNvSpPr/>
          <p:nvPr/>
        </p:nvSpPr>
        <p:spPr>
          <a:xfrm>
            <a:off x="7863840" y="47365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0F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8458200" y="4681728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Income</a:t>
            </a:r>
            <a:endParaRPr lang="en-US" sz="1250" dirty="0"/>
          </a:p>
        </p:txBody>
      </p:sp>
      <p:sp>
        <p:nvSpPr>
          <p:cNvPr id="30" name="Text 27"/>
          <p:cNvSpPr/>
          <p:nvPr/>
        </p:nvSpPr>
        <p:spPr>
          <a:xfrm>
            <a:off x="8458200" y="4956048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income strongly correlates with delinquency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7726680" y="5394960"/>
            <a:ext cx="3931920" cy="676656"/>
          </a:xfrm>
          <a:prstGeom prst="roundRect">
            <a:avLst>
              <a:gd name="adj" fmla="val 12162"/>
            </a:avLst>
          </a:prstGeom>
          <a:solidFill>
            <a:srgbClr val="1B2436"/>
          </a:solidFill>
          <a:ln w="12700">
            <a:solidFill>
              <a:srgbClr val="2A3450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7863840" y="5504688"/>
            <a:ext cx="457200" cy="45720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33" name="Text 30"/>
          <p:cNvSpPr/>
          <p:nvPr/>
        </p:nvSpPr>
        <p:spPr>
          <a:xfrm>
            <a:off x="7863840" y="55046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0F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4" name="Text 31"/>
          <p:cNvSpPr/>
          <p:nvPr/>
        </p:nvSpPr>
        <p:spPr>
          <a:xfrm>
            <a:off x="8458200" y="5449824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Employment Type</a:t>
            </a:r>
            <a:endParaRPr lang="en-US" sz="1250" dirty="0"/>
          </a:p>
        </p:txBody>
      </p:sp>
      <p:sp>
        <p:nvSpPr>
          <p:cNvPr id="35" name="Text 32"/>
          <p:cNvSpPr/>
          <p:nvPr/>
        </p:nvSpPr>
        <p:spPr>
          <a:xfrm>
            <a:off x="8458200" y="5724144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borrowers default at 41.9%</a:t>
            </a:r>
            <a:endParaRPr lang="en-US" sz="950" dirty="0"/>
          </a:p>
        </p:txBody>
      </p:sp>
      <p:sp>
        <p:nvSpPr>
          <p:cNvPr id="36" name="Text 33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5486400"/>
            <a:ext cx="6400800" cy="6400800"/>
          </a:xfrm>
          <a:prstGeom prst="ellipse">
            <a:avLst/>
          </a:prstGeom>
          <a:solidFill>
            <a:srgbClr val="F87171">
              <a:alpha val="6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High-Risk Insights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concentrated pockets of risk are disproportionately driving the portfolio's default rate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3593592" cy="4206240"/>
          </a:xfrm>
          <a:prstGeom prst="roundRect">
            <a:avLst>
              <a:gd name="adj" fmla="val 2290"/>
            </a:avLst>
          </a:prstGeom>
          <a:solidFill>
            <a:srgbClr val="1B2436"/>
          </a:solidFill>
          <a:ln w="12700">
            <a:solidFill>
              <a:srgbClr val="5B232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88236" y="1828800"/>
            <a:ext cx="914400" cy="914400"/>
          </a:xfrm>
          <a:prstGeom prst="ellipse">
            <a:avLst/>
          </a:prstGeom>
          <a:solidFill>
            <a:srgbClr val="3F1D1D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6836" y="205740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2880360"/>
            <a:ext cx="359359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F871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41.9%</a:t>
            </a:r>
            <a:endParaRPr lang="en-US" sz="5600" dirty="0"/>
          </a:p>
        </p:txBody>
      </p:sp>
      <p:sp>
        <p:nvSpPr>
          <p:cNvPr id="9" name="Text 6"/>
          <p:cNvSpPr/>
          <p:nvPr/>
        </p:nvSpPr>
        <p:spPr>
          <a:xfrm>
            <a:off x="548640" y="3794760"/>
            <a:ext cx="3593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RATE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1005840" y="4206240"/>
            <a:ext cx="2679192" cy="13716"/>
          </a:xfrm>
          <a:prstGeom prst="rect">
            <a:avLst/>
          </a:prstGeom>
          <a:solidFill>
            <a:srgbClr val="2A3450"/>
          </a:solidFill>
          <a:ln/>
        </p:spPr>
      </p:sp>
      <p:sp>
        <p:nvSpPr>
          <p:cNvPr id="11" name="Text 8"/>
          <p:cNvSpPr/>
          <p:nvPr/>
        </p:nvSpPr>
        <p:spPr>
          <a:xfrm>
            <a:off x="777240" y="4343400"/>
            <a:ext cx="31363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 Borrowers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822960" y="4800600"/>
            <a:ext cx="30449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rate — nearly double the portfolio average of 24.9%, yet approvals continue without stricter criteria.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325112" y="1554480"/>
            <a:ext cx="3593592" cy="4206240"/>
          </a:xfrm>
          <a:prstGeom prst="roundRect">
            <a:avLst>
              <a:gd name="adj" fmla="val 2290"/>
            </a:avLst>
          </a:prstGeom>
          <a:solidFill>
            <a:srgbClr val="1B2436"/>
          </a:solidFill>
          <a:ln w="12700">
            <a:solidFill>
              <a:srgbClr val="5B232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664708" y="1828800"/>
            <a:ext cx="914400" cy="914400"/>
          </a:xfrm>
          <a:prstGeom prst="ellipse">
            <a:avLst/>
          </a:prstGeom>
          <a:solidFill>
            <a:srgbClr val="3F1D1D"/>
          </a:solidFill>
          <a:ln/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3308" y="2057400"/>
            <a:ext cx="457200" cy="4572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325112" y="2880360"/>
            <a:ext cx="359359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F871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41.9%</a:t>
            </a:r>
            <a:endParaRPr lang="en-US" sz="5600" dirty="0"/>
          </a:p>
        </p:txBody>
      </p:sp>
      <p:sp>
        <p:nvSpPr>
          <p:cNvPr id="17" name="Text 13"/>
          <p:cNvSpPr/>
          <p:nvPr/>
        </p:nvSpPr>
        <p:spPr>
          <a:xfrm>
            <a:off x="4325112" y="3794760"/>
            <a:ext cx="3593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RATE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4782312" y="4206240"/>
            <a:ext cx="2679192" cy="13716"/>
          </a:xfrm>
          <a:prstGeom prst="rect">
            <a:avLst/>
          </a:prstGeom>
          <a:solidFill>
            <a:srgbClr val="2A3450"/>
          </a:solidFill>
          <a:ln/>
        </p:spPr>
      </p:sp>
      <p:sp>
        <p:nvSpPr>
          <p:cNvPr id="19" name="Text 15"/>
          <p:cNvSpPr/>
          <p:nvPr/>
        </p:nvSpPr>
        <p:spPr>
          <a:xfrm>
            <a:off x="4553712" y="4343400"/>
            <a:ext cx="31363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Education Loans</a:t>
            </a:r>
            <a:endParaRPr lang="en-US" sz="1900" dirty="0"/>
          </a:p>
        </p:txBody>
      </p:sp>
      <p:sp>
        <p:nvSpPr>
          <p:cNvPr id="20" name="Text 16"/>
          <p:cNvSpPr/>
          <p:nvPr/>
        </p:nvSpPr>
        <p:spPr>
          <a:xfrm>
            <a:off x="4599432" y="4800600"/>
            <a:ext cx="30449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default rate of any loan purpose — pointing to a fundamental product-risk mismatch.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8101584" y="1554480"/>
            <a:ext cx="3593592" cy="4206240"/>
          </a:xfrm>
          <a:prstGeom prst="roundRect">
            <a:avLst>
              <a:gd name="adj" fmla="val 2290"/>
            </a:avLst>
          </a:prstGeom>
          <a:solidFill>
            <a:srgbClr val="1B2436"/>
          </a:solidFill>
          <a:ln w="12700">
            <a:solidFill>
              <a:srgbClr val="5B2326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9441180" y="1828800"/>
            <a:ext cx="914400" cy="914400"/>
          </a:xfrm>
          <a:prstGeom prst="ellipse">
            <a:avLst/>
          </a:prstGeom>
          <a:solidFill>
            <a:srgbClr val="3F1D1D"/>
          </a:solidFill>
          <a:ln/>
        </p:spPr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69780" y="2057400"/>
            <a:ext cx="457200" cy="45720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8101584" y="2880360"/>
            <a:ext cx="359359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F871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39.3%</a:t>
            </a:r>
            <a:endParaRPr lang="en-US" sz="5600" dirty="0"/>
          </a:p>
        </p:txBody>
      </p:sp>
      <p:sp>
        <p:nvSpPr>
          <p:cNvPr id="25" name="Text 20"/>
          <p:cNvSpPr/>
          <p:nvPr/>
        </p:nvSpPr>
        <p:spPr>
          <a:xfrm>
            <a:off x="8101584" y="3794760"/>
            <a:ext cx="3593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RATE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8558784" y="4206240"/>
            <a:ext cx="2679192" cy="13716"/>
          </a:xfrm>
          <a:prstGeom prst="rect">
            <a:avLst/>
          </a:prstGeom>
          <a:solidFill>
            <a:srgbClr val="2A3450"/>
          </a:solidFill>
          <a:ln/>
        </p:spPr>
      </p:sp>
      <p:sp>
        <p:nvSpPr>
          <p:cNvPr id="27" name="Text 22"/>
          <p:cNvSpPr/>
          <p:nvPr/>
        </p:nvSpPr>
        <p:spPr>
          <a:xfrm>
            <a:off x="8330184" y="4343400"/>
            <a:ext cx="31363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High-Risk Segment</a:t>
            </a:r>
            <a:endParaRPr lang="en-US" sz="1900" dirty="0"/>
          </a:p>
        </p:txBody>
      </p:sp>
      <p:sp>
        <p:nvSpPr>
          <p:cNvPr id="28" name="Text 23"/>
          <p:cNvSpPr/>
          <p:nvPr/>
        </p:nvSpPr>
        <p:spPr>
          <a:xfrm>
            <a:off x="8375904" y="4800600"/>
            <a:ext cx="30449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26.6% of the approved portfolio sits in this tier — a dangerous concentration driving NPA disproportionately.</a:t>
            </a:r>
            <a:endParaRPr lang="en-US" sz="1200" dirty="0"/>
          </a:p>
        </p:txBody>
      </p:sp>
      <p:sp>
        <p:nvSpPr>
          <p:cNvPr id="29" name="Text 24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572000"/>
            <a:ext cx="5486400" cy="5486400"/>
          </a:xfrm>
          <a:prstGeom prst="ellipse">
            <a:avLst/>
          </a:prstGeom>
          <a:solidFill>
            <a:srgbClr val="0E7490">
              <a:alpha val="9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Early Warning System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3-tier risk score (0–100), generated by the Random Forest model, drives a clear policy action for every borrower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2011680" cy="4480560"/>
          </a:xfrm>
          <a:prstGeom prst="roundRect">
            <a:avLst>
              <a:gd name="adj" fmla="val 4091"/>
            </a:avLst>
          </a:prstGeom>
          <a:solidFill>
            <a:srgbClr val="131A2B"/>
          </a:solidFill>
          <a:ln w="12700">
            <a:solidFill>
              <a:srgbClr val="2A34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1783080"/>
            <a:ext cx="1554480" cy="1280160"/>
          </a:xfrm>
          <a:prstGeom prst="ellipse">
            <a:avLst/>
          </a:prstGeom>
          <a:solidFill>
            <a:srgbClr val="0B0F19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88720" y="1965960"/>
            <a:ext cx="914400" cy="91440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8" name="Shape 6"/>
          <p:cNvSpPr/>
          <p:nvPr/>
        </p:nvSpPr>
        <p:spPr>
          <a:xfrm>
            <a:off x="868680" y="3200400"/>
            <a:ext cx="1554480" cy="1280160"/>
          </a:xfrm>
          <a:prstGeom prst="ellipse">
            <a:avLst/>
          </a:prstGeom>
          <a:solidFill>
            <a:srgbClr val="0B0F19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88720" y="3383280"/>
            <a:ext cx="914400" cy="914400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0" name="Shape 8"/>
          <p:cNvSpPr/>
          <p:nvPr/>
        </p:nvSpPr>
        <p:spPr>
          <a:xfrm>
            <a:off x="868680" y="4617720"/>
            <a:ext cx="1554480" cy="1280160"/>
          </a:xfrm>
          <a:prstGeom prst="ellipse">
            <a:avLst/>
          </a:prstGeom>
          <a:solidFill>
            <a:srgbClr val="0B0F19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88720" y="4800600"/>
            <a:ext cx="914400" cy="914400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12" name="Shape 10"/>
          <p:cNvSpPr/>
          <p:nvPr/>
        </p:nvSpPr>
        <p:spPr>
          <a:xfrm>
            <a:off x="2788920" y="1554480"/>
            <a:ext cx="2971800" cy="4480560"/>
          </a:xfrm>
          <a:prstGeom prst="roundRect">
            <a:avLst>
              <a:gd name="adj" fmla="val 2769"/>
            </a:avLst>
          </a:prstGeom>
          <a:solidFill>
            <a:srgbClr val="1B2436"/>
          </a:solidFill>
          <a:ln w="12700">
            <a:solidFill>
              <a:srgbClr val="2A345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88920" y="1554480"/>
            <a:ext cx="2971800" cy="96012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4" name="Text 12"/>
          <p:cNvSpPr/>
          <p:nvPr/>
        </p:nvSpPr>
        <p:spPr>
          <a:xfrm>
            <a:off x="2788920" y="1627632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0F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GREEN — PRIME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2788920" y="2057400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B0F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0 – 34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017520" y="269748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ACTIONS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017520" y="3063240"/>
            <a:ext cx="2514600" cy="777240"/>
          </a:xfrm>
          <a:prstGeom prst="rect">
            <a:avLst/>
          </a:prstGeom>
          <a:solidFill>
            <a:srgbClr val="0F2E22"/>
          </a:solidFill>
          <a:ln/>
        </p:spPr>
      </p:sp>
      <p:sp>
        <p:nvSpPr>
          <p:cNvPr id="18" name="Text 16"/>
          <p:cNvSpPr/>
          <p:nvPr/>
        </p:nvSpPr>
        <p:spPr>
          <a:xfrm>
            <a:off x="3154680" y="306324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processing — fast-track approvals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017520" y="3977640"/>
            <a:ext cx="2514600" cy="777240"/>
          </a:xfrm>
          <a:prstGeom prst="rect">
            <a:avLst/>
          </a:prstGeom>
          <a:solidFill>
            <a:srgbClr val="0F2E22"/>
          </a:solidFill>
          <a:ln/>
        </p:spPr>
      </p:sp>
      <p:sp>
        <p:nvSpPr>
          <p:cNvPr id="20" name="Text 18"/>
          <p:cNvSpPr/>
          <p:nvPr/>
        </p:nvSpPr>
        <p:spPr>
          <a:xfrm>
            <a:off x="3154680" y="397764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Eligible for top-up loans &amp; pre-approved offers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017520" y="4892040"/>
            <a:ext cx="2514600" cy="777240"/>
          </a:xfrm>
          <a:prstGeom prst="rect">
            <a:avLst/>
          </a:prstGeom>
          <a:solidFill>
            <a:srgbClr val="0F2E22"/>
          </a:solidFill>
          <a:ln/>
        </p:spPr>
      </p:sp>
      <p:sp>
        <p:nvSpPr>
          <p:cNvPr id="22" name="Text 20"/>
          <p:cNvSpPr/>
          <p:nvPr/>
        </p:nvSpPr>
        <p:spPr>
          <a:xfrm>
            <a:off x="3154680" y="489204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portfolio monitoring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943600" y="1554480"/>
            <a:ext cx="2971800" cy="4480560"/>
          </a:xfrm>
          <a:prstGeom prst="roundRect">
            <a:avLst>
              <a:gd name="adj" fmla="val 2769"/>
            </a:avLst>
          </a:prstGeom>
          <a:solidFill>
            <a:srgbClr val="1B2436"/>
          </a:solidFill>
          <a:ln w="12700">
            <a:solidFill>
              <a:srgbClr val="2A345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43600" y="1554480"/>
            <a:ext cx="2971800" cy="96012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25" name="Text 23"/>
          <p:cNvSpPr/>
          <p:nvPr/>
        </p:nvSpPr>
        <p:spPr>
          <a:xfrm>
            <a:off x="5943600" y="1627632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0F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AMBER — WATCH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5943600" y="2057400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B0F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35 – 64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172200" y="269748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ACTIONS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172200" y="3063240"/>
            <a:ext cx="2514600" cy="777240"/>
          </a:xfrm>
          <a:prstGeom prst="rect">
            <a:avLst/>
          </a:prstGeom>
          <a:solidFill>
            <a:srgbClr val="332408"/>
          </a:solidFill>
          <a:ln/>
        </p:spPr>
      </p:sp>
      <p:sp>
        <p:nvSpPr>
          <p:cNvPr id="29" name="Text 27"/>
          <p:cNvSpPr/>
          <p:nvPr/>
        </p:nvSpPr>
        <p:spPr>
          <a:xfrm>
            <a:off x="6309360" y="306324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 monitoring &amp; bi-weekly check-in calls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172200" y="3977640"/>
            <a:ext cx="2514600" cy="777240"/>
          </a:xfrm>
          <a:prstGeom prst="rect">
            <a:avLst/>
          </a:prstGeom>
          <a:solidFill>
            <a:srgbClr val="332408"/>
          </a:solidFill>
          <a:ln/>
        </p:spPr>
      </p:sp>
      <p:sp>
        <p:nvSpPr>
          <p:cNvPr id="31" name="Text 29"/>
          <p:cNvSpPr/>
          <p:nvPr/>
        </p:nvSpPr>
        <p:spPr>
          <a:xfrm>
            <a:off x="6309360" y="397764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 rate increase of +150 bps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172200" y="4892040"/>
            <a:ext cx="2514600" cy="777240"/>
          </a:xfrm>
          <a:prstGeom prst="rect">
            <a:avLst/>
          </a:prstGeom>
          <a:solidFill>
            <a:srgbClr val="332408"/>
          </a:solidFill>
          <a:ln/>
        </p:spPr>
      </p:sp>
      <p:sp>
        <p:nvSpPr>
          <p:cNvPr id="33" name="Text 31"/>
          <p:cNvSpPr/>
          <p:nvPr/>
        </p:nvSpPr>
        <p:spPr>
          <a:xfrm>
            <a:off x="6309360" y="489204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Shorter tenure assigned at renewal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9098280" y="1554480"/>
            <a:ext cx="2971800" cy="4480560"/>
          </a:xfrm>
          <a:prstGeom prst="roundRect">
            <a:avLst>
              <a:gd name="adj" fmla="val 2769"/>
            </a:avLst>
          </a:prstGeom>
          <a:solidFill>
            <a:srgbClr val="1B2436"/>
          </a:solidFill>
          <a:ln w="12700">
            <a:solidFill>
              <a:srgbClr val="2A345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098280" y="1554480"/>
            <a:ext cx="2971800" cy="960120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36" name="Text 34"/>
          <p:cNvSpPr/>
          <p:nvPr/>
        </p:nvSpPr>
        <p:spPr>
          <a:xfrm>
            <a:off x="9098280" y="1627632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0F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 — HIGH RISK</a:t>
            </a:r>
            <a:endParaRPr lang="en-US" sz="1700" dirty="0"/>
          </a:p>
        </p:txBody>
      </p:sp>
      <p:sp>
        <p:nvSpPr>
          <p:cNvPr id="37" name="Text 35"/>
          <p:cNvSpPr/>
          <p:nvPr/>
        </p:nvSpPr>
        <p:spPr>
          <a:xfrm>
            <a:off x="9098280" y="2057400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B0F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65 – 100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9326880" y="269748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ACTIONS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9326880" y="3063240"/>
            <a:ext cx="2514600" cy="777240"/>
          </a:xfrm>
          <a:prstGeom prst="rect">
            <a:avLst/>
          </a:prstGeom>
          <a:solidFill>
            <a:srgbClr val="3A1717"/>
          </a:solidFill>
          <a:ln/>
        </p:spPr>
      </p:sp>
      <p:sp>
        <p:nvSpPr>
          <p:cNvPr id="40" name="Text 38"/>
          <p:cNvSpPr/>
          <p:nvPr/>
        </p:nvSpPr>
        <p:spPr>
          <a:xfrm>
            <a:off x="9464040" y="306324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underwriter review required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9326880" y="3977640"/>
            <a:ext cx="2514600" cy="777240"/>
          </a:xfrm>
          <a:prstGeom prst="rect">
            <a:avLst/>
          </a:prstGeom>
          <a:solidFill>
            <a:srgbClr val="3A1717"/>
          </a:solidFill>
          <a:ln/>
        </p:spPr>
      </p:sp>
      <p:sp>
        <p:nvSpPr>
          <p:cNvPr id="42" name="Text 40"/>
          <p:cNvSpPr/>
          <p:nvPr/>
        </p:nvSpPr>
        <p:spPr>
          <a:xfrm>
            <a:off x="9464040" y="397764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 new credit issuance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9326880" y="4892040"/>
            <a:ext cx="2514600" cy="777240"/>
          </a:xfrm>
          <a:prstGeom prst="rect">
            <a:avLst/>
          </a:prstGeom>
          <a:solidFill>
            <a:srgbClr val="3A1717"/>
          </a:solidFill>
          <a:ln/>
        </p:spPr>
      </p:sp>
      <p:sp>
        <p:nvSpPr>
          <p:cNvPr id="44" name="Text 42"/>
          <p:cNvSpPr/>
          <p:nvPr/>
        </p:nvSpPr>
        <p:spPr>
          <a:xfrm>
            <a:off x="9464040" y="489204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collections alert &amp; senior escalation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0" y="4572000"/>
            <a:ext cx="4572000" cy="4572000"/>
          </a:xfrm>
          <a:prstGeom prst="ellipse">
            <a:avLst/>
          </a:prstGeom>
          <a:solidFill>
            <a:srgbClr val="22D3EE">
              <a:alpha val="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Policy Recommendations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actionable interventions, projected to reduce NPA by 15–20% within two quarters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3657600" cy="2331720"/>
          </a:xfrm>
          <a:prstGeom prst="roundRect">
            <a:avLst>
              <a:gd name="adj" fmla="val 3529"/>
            </a:avLst>
          </a:prstGeom>
          <a:solidFill>
            <a:srgbClr val="1B2436"/>
          </a:solidFill>
          <a:ln w="12700">
            <a:solidFill>
              <a:srgbClr val="2A34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783080"/>
            <a:ext cx="594360" cy="594360"/>
          </a:xfrm>
          <a:prstGeom prst="ellipse">
            <a:avLst/>
          </a:prstGeom>
          <a:solidFill>
            <a:srgbClr val="164E63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830" y="1931670"/>
            <a:ext cx="297180" cy="2971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703320" y="1737360"/>
            <a:ext cx="365760" cy="36576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9" name="Text 6"/>
          <p:cNvSpPr/>
          <p:nvPr/>
        </p:nvSpPr>
        <p:spPr>
          <a:xfrm>
            <a:off x="3703320" y="17373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0F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77240" y="24688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EMI-to-Income Cap at 0.50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77240" y="292608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underwriting rule — no loan approved above a 0.50 EMI-to-income ratio. Exceptions need senior sign-off.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2788920" y="3520440"/>
            <a:ext cx="1234440" cy="274320"/>
          </a:xfrm>
          <a:prstGeom prst="roundRect">
            <a:avLst>
              <a:gd name="adj" fmla="val 50000"/>
            </a:avLst>
          </a:prstGeom>
          <a:solidFill>
            <a:srgbClr val="0F2A33"/>
          </a:solidFill>
          <a:ln/>
        </p:spPr>
      </p:sp>
      <p:sp>
        <p:nvSpPr>
          <p:cNvPr id="13" name="Text 10"/>
          <p:cNvSpPr/>
          <p:nvPr/>
        </p:nvSpPr>
        <p:spPr>
          <a:xfrm>
            <a:off x="2788920" y="352044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Underwriting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4343400" y="1554480"/>
            <a:ext cx="3657600" cy="2331720"/>
          </a:xfrm>
          <a:prstGeom prst="roundRect">
            <a:avLst>
              <a:gd name="adj" fmla="val 3529"/>
            </a:avLst>
          </a:prstGeom>
          <a:solidFill>
            <a:srgbClr val="1B2436"/>
          </a:solidFill>
          <a:ln w="12700">
            <a:solidFill>
              <a:srgbClr val="2A345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572000" y="1783080"/>
            <a:ext cx="594360" cy="594360"/>
          </a:xfrm>
          <a:prstGeom prst="ellipse">
            <a:avLst/>
          </a:prstGeom>
          <a:solidFill>
            <a:srgbClr val="3F1D1D"/>
          </a:solidFill>
          <a:ln/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0590" y="1931670"/>
            <a:ext cx="297180" cy="29718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7498080" y="1737360"/>
            <a:ext cx="365760" cy="36576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8" name="Text 14"/>
          <p:cNvSpPr/>
          <p:nvPr/>
        </p:nvSpPr>
        <p:spPr>
          <a:xfrm>
            <a:off x="7498080" y="17373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0F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4572000" y="24688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Restrict Education Loans</a:t>
            </a:r>
            <a:endParaRPr lang="en-US" sz="1500" dirty="0"/>
          </a:p>
        </p:txBody>
      </p:sp>
      <p:sp>
        <p:nvSpPr>
          <p:cNvPr id="20" name="Text 16"/>
          <p:cNvSpPr/>
          <p:nvPr/>
        </p:nvSpPr>
        <p:spPr>
          <a:xfrm>
            <a:off x="4572000" y="292608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Education loans for High-risk borrowers; require co-applicant/guarantor for Medium-risk applicants.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6583680" y="3520440"/>
            <a:ext cx="1234440" cy="274320"/>
          </a:xfrm>
          <a:prstGeom prst="roundRect">
            <a:avLst>
              <a:gd name="adj" fmla="val 50000"/>
            </a:avLst>
          </a:prstGeom>
          <a:solidFill>
            <a:srgbClr val="0F2A33"/>
          </a:solidFill>
          <a:ln/>
        </p:spPr>
      </p:sp>
      <p:sp>
        <p:nvSpPr>
          <p:cNvPr id="22" name="Text 18"/>
          <p:cNvSpPr/>
          <p:nvPr/>
        </p:nvSpPr>
        <p:spPr>
          <a:xfrm>
            <a:off x="6583680" y="352044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Policy</a:t>
            </a:r>
            <a:endParaRPr lang="en-US" sz="900" dirty="0"/>
          </a:p>
        </p:txBody>
      </p:sp>
      <p:sp>
        <p:nvSpPr>
          <p:cNvPr id="23" name="Shape 19"/>
          <p:cNvSpPr/>
          <p:nvPr/>
        </p:nvSpPr>
        <p:spPr>
          <a:xfrm>
            <a:off x="8138160" y="1554480"/>
            <a:ext cx="3502152" cy="2331720"/>
          </a:xfrm>
          <a:prstGeom prst="roundRect">
            <a:avLst>
              <a:gd name="adj" fmla="val 3529"/>
            </a:avLst>
          </a:prstGeom>
          <a:solidFill>
            <a:srgbClr val="1B2436"/>
          </a:solidFill>
          <a:ln w="12700">
            <a:solidFill>
              <a:srgbClr val="2A3450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8366760" y="1783080"/>
            <a:ext cx="594360" cy="594360"/>
          </a:xfrm>
          <a:prstGeom prst="ellipse">
            <a:avLst/>
          </a:prstGeom>
          <a:solidFill>
            <a:srgbClr val="164E63"/>
          </a:solidFill>
          <a:ln/>
        </p:spPr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15350" y="1931670"/>
            <a:ext cx="297180" cy="297180"/>
          </a:xfrm>
          <a:prstGeom prst="rect">
            <a:avLst/>
          </a:prstGeom>
        </p:spPr>
      </p:pic>
      <p:sp>
        <p:nvSpPr>
          <p:cNvPr id="26" name="Shape 21"/>
          <p:cNvSpPr/>
          <p:nvPr/>
        </p:nvSpPr>
        <p:spPr>
          <a:xfrm>
            <a:off x="11137392" y="1737360"/>
            <a:ext cx="365760" cy="36576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27" name="Text 22"/>
          <p:cNvSpPr/>
          <p:nvPr/>
        </p:nvSpPr>
        <p:spPr>
          <a:xfrm>
            <a:off x="11137392" y="17373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0F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8" name="Text 23"/>
          <p:cNvSpPr/>
          <p:nvPr/>
        </p:nvSpPr>
        <p:spPr>
          <a:xfrm>
            <a:off x="8366760" y="2468880"/>
            <a:ext cx="3044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Reprice Amber Borrowers</a:t>
            </a:r>
            <a:endParaRPr lang="en-US" sz="1500" dirty="0"/>
          </a:p>
        </p:txBody>
      </p:sp>
      <p:sp>
        <p:nvSpPr>
          <p:cNvPr id="29" name="Text 24"/>
          <p:cNvSpPr/>
          <p:nvPr/>
        </p:nvSpPr>
        <p:spPr>
          <a:xfrm>
            <a:off x="8366760" y="2926080"/>
            <a:ext cx="30449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+150 bps premium on all new Amber-tier approvals to align pricing with actual risk.</a:t>
            </a:r>
            <a:endParaRPr lang="en-US" sz="1100" dirty="0"/>
          </a:p>
        </p:txBody>
      </p:sp>
      <p:sp>
        <p:nvSpPr>
          <p:cNvPr id="30" name="Shape 25"/>
          <p:cNvSpPr/>
          <p:nvPr/>
        </p:nvSpPr>
        <p:spPr>
          <a:xfrm>
            <a:off x="10222992" y="3520440"/>
            <a:ext cx="1234440" cy="274320"/>
          </a:xfrm>
          <a:prstGeom prst="roundRect">
            <a:avLst>
              <a:gd name="adj" fmla="val 50000"/>
            </a:avLst>
          </a:prstGeom>
          <a:solidFill>
            <a:srgbClr val="0F2A33"/>
          </a:solidFill>
          <a:ln/>
        </p:spPr>
      </p:sp>
      <p:sp>
        <p:nvSpPr>
          <p:cNvPr id="31" name="Text 26"/>
          <p:cNvSpPr/>
          <p:nvPr/>
        </p:nvSpPr>
        <p:spPr>
          <a:xfrm>
            <a:off x="10222992" y="352044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</a:t>
            </a:r>
            <a:endParaRPr lang="en-US" sz="900" dirty="0"/>
          </a:p>
        </p:txBody>
      </p:sp>
      <p:sp>
        <p:nvSpPr>
          <p:cNvPr id="32" name="Shape 27"/>
          <p:cNvSpPr/>
          <p:nvPr/>
        </p:nvSpPr>
        <p:spPr>
          <a:xfrm>
            <a:off x="548640" y="4023360"/>
            <a:ext cx="5486400" cy="2011680"/>
          </a:xfrm>
          <a:prstGeom prst="roundRect">
            <a:avLst>
              <a:gd name="adj" fmla="val 4091"/>
            </a:avLst>
          </a:prstGeom>
          <a:solidFill>
            <a:srgbClr val="1B2436"/>
          </a:solidFill>
          <a:ln w="12700">
            <a:solidFill>
              <a:srgbClr val="2A3450"/>
            </a:solidFill>
            <a:prstDash val="solid"/>
          </a:ln>
        </p:spPr>
      </p:sp>
      <p:sp>
        <p:nvSpPr>
          <p:cNvPr id="33" name="Shape 28"/>
          <p:cNvSpPr/>
          <p:nvPr/>
        </p:nvSpPr>
        <p:spPr>
          <a:xfrm>
            <a:off x="777240" y="4251960"/>
            <a:ext cx="594360" cy="594360"/>
          </a:xfrm>
          <a:prstGeom prst="ellipse">
            <a:avLst/>
          </a:prstGeom>
          <a:solidFill>
            <a:srgbClr val="164E63"/>
          </a:solidFill>
          <a:ln/>
        </p:spPr>
      </p:sp>
      <p:pic>
        <p:nvPicPr>
          <p:cNvPr id="3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5830" y="4400550"/>
            <a:ext cx="297180" cy="297180"/>
          </a:xfrm>
          <a:prstGeom prst="rect">
            <a:avLst/>
          </a:prstGeom>
        </p:spPr>
      </p:pic>
      <p:sp>
        <p:nvSpPr>
          <p:cNvPr id="35" name="Shape 29"/>
          <p:cNvSpPr/>
          <p:nvPr/>
        </p:nvSpPr>
        <p:spPr>
          <a:xfrm>
            <a:off x="5532120" y="4206240"/>
            <a:ext cx="365760" cy="36576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36" name="Text 30"/>
          <p:cNvSpPr/>
          <p:nvPr/>
        </p:nvSpPr>
        <p:spPr>
          <a:xfrm>
            <a:off x="5532120" y="4206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0F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7" name="Text 31"/>
          <p:cNvSpPr/>
          <p:nvPr/>
        </p:nvSpPr>
        <p:spPr>
          <a:xfrm>
            <a:off x="777240" y="493776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Reduce Tenure for High-Risk Loans</a:t>
            </a:r>
            <a:endParaRPr lang="en-US" sz="1500" dirty="0"/>
          </a:p>
        </p:txBody>
      </p:sp>
      <p:sp>
        <p:nvSpPr>
          <p:cNvPr id="38" name="Text 32"/>
          <p:cNvSpPr/>
          <p:nvPr/>
        </p:nvSpPr>
        <p:spPr>
          <a:xfrm>
            <a:off x="777240" y="539496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maximum tenure at 36 months for Amber and Red tier borrowers to limit cumulative exposure.</a:t>
            </a:r>
            <a:endParaRPr lang="en-US" sz="1100" dirty="0"/>
          </a:p>
        </p:txBody>
      </p:sp>
      <p:sp>
        <p:nvSpPr>
          <p:cNvPr id="39" name="Shape 33"/>
          <p:cNvSpPr/>
          <p:nvPr/>
        </p:nvSpPr>
        <p:spPr>
          <a:xfrm>
            <a:off x="4617720" y="5669280"/>
            <a:ext cx="1234440" cy="274320"/>
          </a:xfrm>
          <a:prstGeom prst="roundRect">
            <a:avLst>
              <a:gd name="adj" fmla="val 50000"/>
            </a:avLst>
          </a:prstGeom>
          <a:solidFill>
            <a:srgbClr val="0F2A33"/>
          </a:solidFill>
          <a:ln/>
        </p:spPr>
      </p:sp>
      <p:sp>
        <p:nvSpPr>
          <p:cNvPr id="40" name="Text 34"/>
          <p:cNvSpPr/>
          <p:nvPr/>
        </p:nvSpPr>
        <p:spPr>
          <a:xfrm>
            <a:off x="4617720" y="566928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Underwriting</a:t>
            </a:r>
            <a:endParaRPr lang="en-US" sz="900" dirty="0"/>
          </a:p>
        </p:txBody>
      </p:sp>
      <p:sp>
        <p:nvSpPr>
          <p:cNvPr id="41" name="Shape 35"/>
          <p:cNvSpPr/>
          <p:nvPr/>
        </p:nvSpPr>
        <p:spPr>
          <a:xfrm>
            <a:off x="6172200" y="4023360"/>
            <a:ext cx="5468112" cy="2011680"/>
          </a:xfrm>
          <a:prstGeom prst="roundRect">
            <a:avLst>
              <a:gd name="adj" fmla="val 4091"/>
            </a:avLst>
          </a:prstGeom>
          <a:solidFill>
            <a:srgbClr val="1B2436"/>
          </a:solidFill>
          <a:ln w="12700">
            <a:solidFill>
              <a:srgbClr val="2A3450"/>
            </a:solidFill>
            <a:prstDash val="solid"/>
          </a:ln>
        </p:spPr>
      </p:sp>
      <p:sp>
        <p:nvSpPr>
          <p:cNvPr id="42" name="Shape 36"/>
          <p:cNvSpPr/>
          <p:nvPr/>
        </p:nvSpPr>
        <p:spPr>
          <a:xfrm>
            <a:off x="6400800" y="4251960"/>
            <a:ext cx="594360" cy="594360"/>
          </a:xfrm>
          <a:prstGeom prst="ellipse">
            <a:avLst/>
          </a:prstGeom>
          <a:solidFill>
            <a:srgbClr val="164E63"/>
          </a:solidFill>
          <a:ln/>
        </p:spPr>
      </p:sp>
      <p:pic>
        <p:nvPicPr>
          <p:cNvPr id="4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49390" y="4400550"/>
            <a:ext cx="297180" cy="297180"/>
          </a:xfrm>
          <a:prstGeom prst="rect">
            <a:avLst/>
          </a:prstGeom>
        </p:spPr>
      </p:pic>
      <p:sp>
        <p:nvSpPr>
          <p:cNvPr id="44" name="Shape 37"/>
          <p:cNvSpPr/>
          <p:nvPr/>
        </p:nvSpPr>
        <p:spPr>
          <a:xfrm>
            <a:off x="11137392" y="4206240"/>
            <a:ext cx="365760" cy="36576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45" name="Text 38"/>
          <p:cNvSpPr/>
          <p:nvPr/>
        </p:nvSpPr>
        <p:spPr>
          <a:xfrm>
            <a:off x="11137392" y="4206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0F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46" name="Text 39"/>
          <p:cNvSpPr/>
          <p:nvPr/>
        </p:nvSpPr>
        <p:spPr>
          <a:xfrm>
            <a:off x="6400800" y="4937760"/>
            <a:ext cx="5010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Channel Reallocation</a:t>
            </a:r>
            <a:endParaRPr lang="en-US" sz="1500" dirty="0"/>
          </a:p>
        </p:txBody>
      </p:sp>
      <p:sp>
        <p:nvSpPr>
          <p:cNvPr id="47" name="Text 40"/>
          <p:cNvSpPr/>
          <p:nvPr/>
        </p:nvSpPr>
        <p:spPr>
          <a:xfrm>
            <a:off x="6400800" y="5394960"/>
            <a:ext cx="5010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20% of Instagram acquisition budget away from high-default channels; tighten Referral onboarding checks.</a:t>
            </a:r>
            <a:endParaRPr lang="en-US" sz="1100" dirty="0"/>
          </a:p>
        </p:txBody>
      </p:sp>
      <p:sp>
        <p:nvSpPr>
          <p:cNvPr id="48" name="Shape 41"/>
          <p:cNvSpPr/>
          <p:nvPr/>
        </p:nvSpPr>
        <p:spPr>
          <a:xfrm>
            <a:off x="10222992" y="5669280"/>
            <a:ext cx="1234440" cy="274320"/>
          </a:xfrm>
          <a:prstGeom prst="roundRect">
            <a:avLst>
              <a:gd name="adj" fmla="val 50000"/>
            </a:avLst>
          </a:prstGeom>
          <a:solidFill>
            <a:srgbClr val="0F2A33"/>
          </a:solidFill>
          <a:ln/>
        </p:spPr>
      </p:sp>
      <p:sp>
        <p:nvSpPr>
          <p:cNvPr id="49" name="Text 42"/>
          <p:cNvSpPr/>
          <p:nvPr/>
        </p:nvSpPr>
        <p:spPr>
          <a:xfrm>
            <a:off x="10222992" y="566928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Acquisition</a:t>
            </a:r>
            <a:endParaRPr lang="en-US" sz="900" dirty="0"/>
          </a:p>
        </p:txBody>
      </p:sp>
      <p:sp>
        <p:nvSpPr>
          <p:cNvPr id="50" name="Text 43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1075</Words>
  <Application>Microsoft Office PowerPoint</Application>
  <PresentationFormat>Widescreen</PresentationFormat>
  <Paragraphs>221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Lending Portfolio Optimization</dc:title>
  <dc:subject>PptxGenJS Presentation</dc:subject>
  <dc:creator>Consulting &amp; Analytics Club, IIT Guwahati</dc:creator>
  <cp:lastModifiedBy>vanshika lalwani</cp:lastModifiedBy>
  <cp:revision>2</cp:revision>
  <dcterms:created xsi:type="dcterms:W3CDTF">2026-06-15T20:39:12Z</dcterms:created>
  <dcterms:modified xsi:type="dcterms:W3CDTF">2026-06-16T07:17:43Z</dcterms:modified>
</cp:coreProperties>
</file>